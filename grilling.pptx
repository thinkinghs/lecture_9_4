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51781-2FAD-4408-9D2B-9AAF0E28779D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68971-8A18-4432-9241-6F774AE9F4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393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8587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507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1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준비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979295" y="598932"/>
            <a:ext cx="938944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시작 전 준비 사항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5148072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9339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30428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강의자료 다운로드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16" y="2688336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 신청 시 등록한 개인 이메일로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148072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199339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37376" y="230428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Desktop 설치 · 로그인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37376" y="2688336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구글에서 'claude desktop download' 검색 후 다운로드 및 설치. 유료 계정 로그인 필수.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821528" y="2441448"/>
            <a:ext cx="548640" cy="457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0"/>
            <a:ext cx="10911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Grilling으로 원하는 결과를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이끌어내는 프롬프트 만들기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21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문제 진단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490470" y="598932"/>
            <a:ext cx="887826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프롬프트를 써도 원하는 결과가 나오지 않는 이유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지시하지 않은 부분을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스스로 메우는 구조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이기 때문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10545775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11680"/>
            <a:ext cx="50292" cy="86868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13969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모호한 한 줄 지시의 예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2432304"/>
            <a:ext cx="9997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“보도자료 어떻게 써?”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3200400"/>
            <a:ext cx="3088538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00400"/>
            <a:ext cx="308853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227832"/>
            <a:ext cx="286908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모호한 한 줄 지시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의도의 일부만 글로 전달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948074" y="3200400"/>
            <a:ext cx="566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51578" y="3200400"/>
            <a:ext cx="3088538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51578" y="3200400"/>
            <a:ext cx="308853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6" name="Text 14"/>
          <p:cNvSpPr/>
          <p:nvPr/>
        </p:nvSpPr>
        <p:spPr>
          <a:xfrm>
            <a:off x="4661306" y="3227832"/>
            <a:ext cx="286908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빈칸을 임의로 가정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없는 부분을 스스로 결정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76693" y="3200400"/>
            <a:ext cx="566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80197" y="3200400"/>
            <a:ext cx="3088538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80197" y="3200400"/>
            <a:ext cx="308853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20" name="Text 18"/>
          <p:cNvSpPr/>
          <p:nvPr/>
        </p:nvSpPr>
        <p:spPr>
          <a:xfrm>
            <a:off x="8389925" y="3227832"/>
            <a:ext cx="286908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원치 않은 결과 · 환각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수치·순위까지 생성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2960" y="4617720"/>
            <a:ext cx="10545775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2416" y="4736592"/>
            <a:ext cx="101068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42416" y="5001768"/>
            <a:ext cx="10106863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지시하지 않은 것은 모델에게 모호한 의도로 남는 부분 — 결국 임의 생성과 환각의 출발점.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21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근본 원인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490470" y="598932"/>
            <a:ext cx="887826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작성한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프롬프트에는 빈 틈이 많음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5148072" cy="1965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476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아는 것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25856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명세에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기재 → 모델이 정확히 반영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16" y="2642616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적힌 내용은 그대로 반영. 다만 전문가일수록 '이건 당연하지'라며 생략하는 내용이 많은 편 — 모델은 그 '당연한 것'을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알지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못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148072" cy="1965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7376" y="19476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모르는 것 · BLIND SPOT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37376" y="225856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기재되지 않음 → 모델이 임의로 생성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37376" y="2642616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적히지 않은 빈칸이 곧 blind spot. 모델이 스스로 채우는 과정에서 원치 않은 결과와 환각으로 연결.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753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해법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44065" y="598932"/>
            <a:ext cx="93246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Grilling — 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질문을 던져 나와 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이해를 일치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0545775" cy="1097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65960"/>
            <a:ext cx="50292" cy="109728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09397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386584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대략적인 아이디어만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나에게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끝까지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질문하도록 해서, 이 문제에 어떤 관점이 더 필요하고 어떤 정보가 빠져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있는지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끌어내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싶어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.”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3611880"/>
            <a:ext cx="2844698" cy="1097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611880"/>
            <a:ext cx="284469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639312"/>
            <a:ext cx="262524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대략적 아이디어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막연한 출발점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704234" y="3611880"/>
            <a:ext cx="932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 →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73498" y="3611880"/>
            <a:ext cx="2844698" cy="1097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73498" y="3611880"/>
            <a:ext cx="284469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5" name="Text 13"/>
          <p:cNvSpPr/>
          <p:nvPr/>
        </p:nvSpPr>
        <p:spPr>
          <a:xfrm>
            <a:off x="4783226" y="3639312"/>
            <a:ext cx="262524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 이해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관점 · 정보 보강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54773" y="3611880"/>
            <a:ext cx="932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 →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524037" y="3611880"/>
            <a:ext cx="2844698" cy="1097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24037" y="3611880"/>
            <a:ext cx="284469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9" name="Text 17"/>
          <p:cNvSpPr/>
          <p:nvPr/>
        </p:nvSpPr>
        <p:spPr>
          <a:xfrm>
            <a:off x="8633765" y="3639312"/>
            <a:ext cx="262524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프롬프트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실행 가능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502920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프롬프트는 이해의 구체성에서 출발 — Grilling은 그 이해를 빠르게 끌어올리는 수단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21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작동 원리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490470" y="598932"/>
            <a:ext cx="887826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질문은 묶어서 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답은 추천과 함께 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합의되면 종합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3271418" cy="2103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4767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25856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묶음</a:t>
            </a: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 질문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16" y="2642616"/>
            <a:ext cx="28325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하나씩 주고받지 않고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답할 수 있는 질문들을 한 묶음으로 물어봄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답에 따라 다음 질문 묶음이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정해짐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60138" y="1783080"/>
            <a:ext cx="3271418" cy="2103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79594" y="194767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79594" y="225856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추천답 동반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79594" y="2642616"/>
            <a:ext cx="28325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질문마다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답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모르는 질문은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추천대로 해줘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답해도 넘어갈 수 있음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97317" y="1783080"/>
            <a:ext cx="3271418" cy="2103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6773" y="194767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316773" y="225856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 후 종합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16773" y="2642616"/>
            <a:ext cx="28325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결론을 내기에 충분한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질의응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과정이 완료되면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최종안 생성.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7938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설치와 사용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662555" y="598932"/>
            <a:ext cx="870618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10545775" cy="226771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" y="178308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63624" y="1783080"/>
            <a:ext cx="95673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SKILL.md를 Raw / Download raw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file로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또는 배포 강의자료 이용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05840" y="2350008"/>
            <a:ext cx="10180015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060704" y="235000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563624" y="2350008"/>
            <a:ext cx="95673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SKILL.md를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폴더(grilling)에 담아 ZIP 파일로 압축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05840" y="2916936"/>
            <a:ext cx="10180015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060704" y="291693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63624" y="2916936"/>
            <a:ext cx="95673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지정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Skills →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 상단의 추가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업로드에서 ZIP 업로드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05840" y="3483864"/>
            <a:ext cx="10180015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060704" y="348386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563624" y="3483864"/>
            <a:ext cx="95673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— 대화 중 "grill" 입력 시 자동 적용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434340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</a:t>
            </a: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100" b="1" i="0" u="none" strike="noStrike" kern="0" cap="none" spc="10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</a:t>
            </a: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https://github.com/mattpocock/skills/blob/main/skills/productivity/grilling/SKILL.md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21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 준비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490470" y="598932"/>
            <a:ext cx="887826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실습에 사용할 모델 — Sonnet 기본, Opus는 비교용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148072" cy="18288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사용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21284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Sonnet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16" y="2596896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응답 속도와 낮은 비용. 대부분의 실용 태스크에 적합 — 빠른 실습과 토큰 절약을 위한 기본 선택.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148072" cy="18288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737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비교용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37376" y="221284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Opus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37376" y="2596896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 수준의 추론 능력. 복잡한 분석과 다단계 추론에 강점 — 결과 차이를 확인하는 비교 용도로만 사용.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3977640"/>
            <a:ext cx="10545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Haiku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가장 빠르고 저렴한 경량 모델. 실습 난도를 따라오기 어려운 경우가 많아 이번 실습에서 제외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Fable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Opus 상위의 최상위 모델. Max 플랜 등에는 기본 포함(주간 사용 한도의 50%까지), Pro는 별도 사용 크레딧 필요 — 이번 실습에서 제외 (2026. 8. 기준)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753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44065" y="598932"/>
            <a:ext cx="93246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선택 — Sonnet으로 시작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실습 시작과 토큰 절약을 위해 Sonnet을 먼저 선택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shots/m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128" y="2103120"/>
            <a:ext cx="6949440" cy="37739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621128" y="2103120"/>
            <a:ext cx="6949440" cy="3773932"/>
          </a:xfrm>
          <a:prstGeom prst="rect">
            <a:avLst/>
          </a:prstGeom>
          <a:ln w="15875">
            <a:solidFill>
              <a:srgbClr val="4A443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753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44065" y="598932"/>
            <a:ext cx="93246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103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KISTEP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발표한 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‘10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 </a:t>
            </a:r>
            <a:r>
              <a:rPr kumimoji="0" lang="ko-KR" alt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미래유망기술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보도자료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grill 유무 비교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두 프롬프트로 시작해 각각 대화를 이어가며 비교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10545775" cy="960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65960"/>
            <a:ext cx="50292" cy="9601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09397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프롬프트 A · GRILL 없이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2386584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lnSpc>
                <a:spcPct val="135000"/>
              </a:lnSpc>
              <a:defRPr/>
            </a:pPr>
            <a:r>
              <a:rPr lang="en-US" altLang="ko-KR" sz="1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KISTI가</a:t>
            </a:r>
            <a:r>
              <a:rPr lang="en-US" alt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새 </a:t>
            </a:r>
            <a:r>
              <a:rPr lang="en-US" altLang="ko-KR" sz="1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슈퍼컴퓨터를</a:t>
            </a:r>
            <a:r>
              <a:rPr lang="en-US" alt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도입했어</a:t>
            </a:r>
            <a:r>
              <a:rPr lang="en-US" alt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en-US" altLang="ko-KR" sz="1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보도자료</a:t>
            </a:r>
            <a:r>
              <a:rPr lang="en-US" alt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r>
              <a:rPr lang="en-US" alt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써?</a:t>
            </a:r>
            <a:endParaRPr kumimoji="0" lang="en-US" sz="1250" b="1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3108960"/>
            <a:ext cx="10545775" cy="960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108960"/>
            <a:ext cx="50292" cy="9601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23697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프롬프트 B · GRILL 켜고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97280" y="3529584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>
              <a:lnSpc>
                <a:spcPct val="135000"/>
              </a:lnSpc>
              <a:defRPr/>
            </a:pPr>
            <a:r>
              <a:rPr lang="en-US" altLang="ko-KR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KISTI가</a:t>
            </a:r>
            <a:r>
              <a:rPr lang="en-US" alt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새 </a:t>
            </a:r>
            <a:r>
              <a:rPr lang="en-US" altLang="ko-KR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슈퍼컴퓨터를</a:t>
            </a:r>
            <a:r>
              <a:rPr lang="en-US" alt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도입했어</a:t>
            </a:r>
            <a:r>
              <a:rPr lang="en-US" alt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en-US" altLang="ko-KR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보도자료</a:t>
            </a:r>
            <a:r>
              <a:rPr lang="en-US" alt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r>
              <a:rPr lang="en-US" alt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써? </a:t>
            </a:r>
            <a:r>
              <a:rPr lang="en-US" altLang="ko-KR" sz="12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</a:t>
            </a:r>
            <a:endParaRPr kumimoji="0" lang="en-US" altLang="ko-KR" sz="1250" b="1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4434840"/>
            <a:ext cx="5148072" cy="9144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459943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A의 예상 흐름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42416" y="491032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일반론 답변 · 수치 환각 위험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17920" y="4434840"/>
            <a:ext cx="5148072" cy="9144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459943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B의 예상 흐름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37376" y="491032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역질문으로 고도화 후 종합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753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44065" y="598932"/>
            <a:ext cx="93246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Opus로 변경 — 응답 차이 확인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프롬프트를 Opus로 실행했을 때 어떻게 다른지 확인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shots/m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928" y="2148840"/>
            <a:ext cx="7863840" cy="373671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163928" y="2148840"/>
            <a:ext cx="7863840" cy="3736718"/>
          </a:xfrm>
          <a:prstGeom prst="rect">
            <a:avLst/>
          </a:prstGeom>
          <a:ln w="15875">
            <a:solidFill>
              <a:srgbClr val="4A443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21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 결과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490470" y="598932"/>
            <a:ext cx="887826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한 줄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이지만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grill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유무가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퀄리티에 큰 영향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5148072" cy="35661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476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 없이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350008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일반론 수준의 두루뭉술한 보도자료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순위·상승 폭 수치를 임의로 생성 — 환각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후보정에 필요한 시간이 많이 소요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148072" cy="35661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7376" y="19476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 켜고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37376" y="2350008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독자·핵심 메시지·강조 지표·인용문·톤·형식을 차례로 역질문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질문마다 추천답을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의도에 맞게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보도자료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753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44065" y="598932"/>
            <a:ext cx="93246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최종안을 먼저 받고 싶을 때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생각이 충분히 고도화되었다고 판단되면 Grilling이 먼저 최종안 작성을 제안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전에 최종안을 받고 싶으면 아래 프롬프트 입력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10545775" cy="960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017520"/>
            <a:ext cx="50292" cy="9601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1455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예시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3438144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“지금까지 너와 대화한 것을 바탕으로 보도자료를 작성해줘”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753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44065" y="598932"/>
            <a:ext cx="93246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 프롬프트 만들기 —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보도자료 작업 시에 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grilling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없이 지시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Grilling </a:t>
            </a: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완료하는 것도 상당 시간이 소요됨</a:t>
            </a:r>
            <a:r>
              <a:rPr kumimoji="0" lang="en-US" altLang="ko-KR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업무라면 매번 </a:t>
            </a:r>
            <a:r>
              <a:rPr kumimoji="0" lang="en-US" altLang="ko-KR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Grilling</a:t>
            </a: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새로 하면 비효율적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다음부터는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grilling 과정 없이 바로 보도자료를 작성할 수 있도록, 대화 내용을 프롬프트로 정리해 달라고 요청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10545775" cy="960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743200"/>
            <a:ext cx="50292" cy="9601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87121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예시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3163824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“지금까지 너와 대화한 내용을 바탕으로 보도자료 작성을 요청하는 프롬프트 만들어줘”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753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확장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44065" y="598932"/>
            <a:ext cx="93246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프롬프트는 부서 공통 자산으로 관리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3088538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308853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764792"/>
            <a:ext cx="286908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</a:t>
            </a:r>
            <a:r>
              <a:rPr kumimoji="0" lang="en-US" sz="13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고도화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948074" y="1737360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51578" y="1737360"/>
            <a:ext cx="3088538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1578" y="1737360"/>
            <a:ext cx="308853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1" name="Text 9"/>
          <p:cNvSpPr/>
          <p:nvPr/>
        </p:nvSpPr>
        <p:spPr>
          <a:xfrm>
            <a:off x="4661306" y="1764792"/>
            <a:ext cx="286908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프롬프트로 등록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공유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76693" y="1737360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80197" y="1737360"/>
            <a:ext cx="3088538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80197" y="1737360"/>
            <a:ext cx="308853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5" name="Text 13"/>
          <p:cNvSpPr/>
          <p:nvPr/>
        </p:nvSpPr>
        <p:spPr>
          <a:xfrm>
            <a:off x="8389925" y="1764792"/>
            <a:ext cx="286908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전체가 재사용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2960" y="3063240"/>
            <a:ext cx="3271418" cy="19202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322783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42416" y="353872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일관된 품질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42416" y="3922776"/>
            <a:ext cx="28325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작성해도 같은 기준의 결과물.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460138" y="3063240"/>
            <a:ext cx="3271418" cy="19202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79594" y="322783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79594" y="353872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노하우 축적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79594" y="3922776"/>
            <a:ext cx="28325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끌어낸 질문과 구조가 부서 자산으로 축적.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097317" y="3063240"/>
            <a:ext cx="3271418" cy="19202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16773" y="322783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3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316773" y="353872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온보딩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16773" y="3922776"/>
            <a:ext cx="28325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구성원도 빈칸만 바꿔 바로 활용.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557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수업 준비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425700" y="598932"/>
            <a:ext cx="894303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Visual Studio Code 설치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10545775" cy="12801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2157984"/>
            <a:ext cx="164592" cy="164592"/>
          </a:xfrm>
          <a:prstGeom prst="rect">
            <a:avLst/>
          </a:prstGeom>
          <a:solidFill>
            <a:srgbClr val="1A1810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9888" y="1920240"/>
            <a:ext cx="9722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수업 전까지 Visual Studio Code 다운로드 및 설치 완료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05840" y="2560320"/>
            <a:ext cx="10180015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078992" y="2798064"/>
            <a:ext cx="164592" cy="164592"/>
          </a:xfrm>
          <a:prstGeom prst="rect">
            <a:avLst/>
          </a:prstGeom>
          <a:solidFill>
            <a:srgbClr val="1A1810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89888" y="2560320"/>
            <a:ext cx="9722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후 실행 확인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949</Words>
  <Application>Microsoft Office PowerPoint</Application>
  <PresentationFormat>와이드스크린</PresentationFormat>
  <Paragraphs>173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think</dc:creator>
  <cp:lastModifiedBy>think</cp:lastModifiedBy>
  <cp:revision>1</cp:revision>
  <dcterms:created xsi:type="dcterms:W3CDTF">2026-08-27T12:30:33Z</dcterms:created>
  <dcterms:modified xsi:type="dcterms:W3CDTF">2026-09-01T05:17:07Z</dcterms:modified>
</cp:coreProperties>
</file>