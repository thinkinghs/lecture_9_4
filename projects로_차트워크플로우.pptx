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</p:sldMasterIdLst>
  <p:notesMasterIdLst>
    <p:notesMasterId r:id="rId16"/>
  </p:notesMasterIdLst>
  <p:sldIdLst>
    <p:sldId id="324" r:id="rId3"/>
    <p:sldId id="271" r:id="rId4"/>
    <p:sldId id="577" r:id="rId5"/>
    <p:sldId id="325" r:id="rId6"/>
    <p:sldId id="326" r:id="rId7"/>
    <p:sldId id="328" r:id="rId8"/>
    <p:sldId id="329" r:id="rId9"/>
    <p:sldId id="330" r:id="rId10"/>
    <p:sldId id="573" r:id="rId11"/>
    <p:sldId id="578" r:id="rId12"/>
    <p:sldId id="574" r:id="rId13"/>
    <p:sldId id="331" r:id="rId14"/>
    <p:sldId id="346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56" d="100"/>
          <a:sy n="56" d="100"/>
        </p:scale>
        <p:origin x="90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CF1BD6-0E7A-42F5-A31D-65FD5271A526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56985E-7B6B-4A51-B6DA-3606131FA2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01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3424A-D3FE-F695-A3DC-0C052A796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0C8471-068B-94A0-6BAD-9128B21C5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783935-ED41-3A23-6285-47D006683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오프닝. 오늘은 '차트 그리는 법'이 아니라 프로젝트라는 작업 공간을 만들고, 그 안에서 반복 업무를 이어가는 방법을 배웁니다. 비개발 직군도 그대로 따라올 수 있는 흐름입니다.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AE67C-AC62-7374-EBD5-109E4E2267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6921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83282-D2B0-EA87-BBF4-51DE56486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PlaceHolder 1">
            <a:extLst>
              <a:ext uri="{FF2B5EF4-FFF2-40B4-BE49-F238E27FC236}">
                <a16:creationId xmlns:a16="http://schemas.microsoft.com/office/drawing/2014/main" id="{F0C7EE46-A3E6-1CF4-A5F6-DDC28CC8B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04" name="PlaceHolder 2">
            <a:extLst>
              <a:ext uri="{FF2B5EF4-FFF2-40B4-BE49-F238E27FC236}">
                <a16:creationId xmlns:a16="http://schemas.microsoft.com/office/drawing/2014/main" id="{8757CCE2-E9E2-A5D4-AECA-21654BDEF50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아티팩트 패널에 호버 가능한 대시보드가 렌더됨을 시연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3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종 구성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묶음막대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추이선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도넛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배포된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HTML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템플릿이 동일 결과물임을 보여주고 더블클릭으로 열어본다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05" name="PlaceHolder 3">
            <a:extLst>
              <a:ext uri="{FF2B5EF4-FFF2-40B4-BE49-F238E27FC236}">
                <a16:creationId xmlns:a16="http://schemas.microsoft.com/office/drawing/2014/main" id="{EF5D8668-10B0-0DDD-5CDC-48259293DF47}"/>
              </a:ext>
            </a:extLst>
          </p:cNvPr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8595A6-81DB-47A6-917A-FA7F25FA4428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0319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EB359-B42A-8AB9-1E3D-B6C1E7DEB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PlaceHolder 1">
            <a:extLst>
              <a:ext uri="{FF2B5EF4-FFF2-40B4-BE49-F238E27FC236}">
                <a16:creationId xmlns:a16="http://schemas.microsoft.com/office/drawing/2014/main" id="{07752374-4A3C-AFFC-0187-C4057CB7E2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04" name="PlaceHolder 2">
            <a:extLst>
              <a:ext uri="{FF2B5EF4-FFF2-40B4-BE49-F238E27FC236}">
                <a16:creationId xmlns:a16="http://schemas.microsoft.com/office/drawing/2014/main" id="{C9764988-249C-4C34-2CD6-10020708CAA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아티팩트 패널에 호버 가능한 대시보드가 렌더됨을 시연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3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종 구성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묶음막대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추이선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·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도넛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배포된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HTML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템플릿이 동일 결과물임을 보여주고 더블클릭으로 열어본다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05" name="PlaceHolder 3">
            <a:extLst>
              <a:ext uri="{FF2B5EF4-FFF2-40B4-BE49-F238E27FC236}">
                <a16:creationId xmlns:a16="http://schemas.microsoft.com/office/drawing/2014/main" id="{AEE931BC-B5FB-FE05-6B01-3C52BA421B2B}"/>
              </a:ext>
            </a:extLst>
          </p:cNvPr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8595A6-81DB-47A6-917A-FA7F25FA4428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6339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CF938-9AEA-8364-A809-3299A7060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A22B5F-5037-D6F1-7681-78E31E6F3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B6DD45-32CE-7454-32D3-4E6499612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일회성 질문은 일반 대화로 충분합니다. 프로젝트가 필요한 건 '같은 일을 주기적으로 반복'할 때입니다. 수강생에게 본인의 반복 업무를 하나 떠올려 보게 하세요.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7E854-A46B-7959-BE71-9FDA442774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2413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347E0-9BD6-39F6-97F0-6507B6D01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9ACF9-B198-60C2-2019-9B6EBD672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63054B-4E5C-A2C4-FDBF-BA128FAC3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화면을 함께 띄워 놓고 세 영역이 어디에 있는지 손으로 짚어 주세요. 지침 = 규칙, 컨텍스트 = 자료, 대화 = 기록.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DE6F1-6844-95C8-D440-5B306C4D27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1329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A0D3B-3A04-2E00-7D4F-3842F6085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37B888-07EC-33E5-8A6C-24225CFB7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CD37D-7E81-9436-699D-AD04A79B2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한 번 멈추고 전원이 프로젝트 생성까지 마쳤는지 확인하세요. 지침 붙여넣기는 다음 장에서 함께 진행합니다.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8535B-9D25-6C9E-C810-894DE783A4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2156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A3138-010F-C248-4C83-432896A7F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7B0DA-875F-9F73-F00D-A2CCE3657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322E31-CFCD-0C68-4B07-C80E0BBCF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지침을 한 줄씩 읽으며 '이건 원래 매번 말로 설명하던 것'이라는 점을 짚어 주세요. 오른쪽 3원칙은 각자 업무 지침을 쓸 때의 기준입니다.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B8311-11E6-F399-7471-C0A30223F1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96175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0A973-0855-CBE9-8C92-0FE738D77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A88829-C187-4917-58C3-67599547C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BFDC7-9D95-11F2-C81F-ADEAF808B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흔한 실수는 프로젝트 밖 일반 대화창에서 파일을 올리는 것입니다. 하단 KISTI 표기 유무로 1초 만에 확인할 수 있다는 점을 강조하세요.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BAB75-CEAA-D864-574F-07840D9473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41492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D4EED-EB40-D718-5AE3-3D69B86D0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PlaceHolder 1">
            <a:extLst>
              <a:ext uri="{FF2B5EF4-FFF2-40B4-BE49-F238E27FC236}">
                <a16:creationId xmlns:a16="http://schemas.microsoft.com/office/drawing/2014/main" id="{EC82E244-5B0C-5433-B758-3F6290CD6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07" name="PlaceHolder 2">
            <a:extLst>
              <a:ext uri="{FF2B5EF4-FFF2-40B4-BE49-F238E27FC236}">
                <a16:creationId xmlns:a16="http://schemas.microsoft.com/office/drawing/2014/main" id="{FE0A9C37-6F43-461F-D4A1-AC830F5946F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차트 공장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 =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프로젝트 지침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하우스 스타일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 +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표준 프롬프트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한 번 세팅하면 데이터만 올리고 표준요청만 보내면 됨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이것이 노코딩 워크플로우의 핵심 산출물. ※ 주의(2026.7 실측): 프로젝트 지침은 전문이 모든 대화에 항상 로드되므로 대괄호만으로는 지침이 분리되지 않고, 호출하지 않은 지침의 기본값까지 함께 실행된다. 활성화 규칙을 지침 안에 명시하되 100% 보장은 아니며, 완전한 격리가 필요하면 기관별 프로젝트 분리 또는 Skills(관련 작업 시에만 로드되는 공식 기능) 사용을 안내할 것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08" name="PlaceHolder 3">
            <a:extLst>
              <a:ext uri="{FF2B5EF4-FFF2-40B4-BE49-F238E27FC236}">
                <a16:creationId xmlns:a16="http://schemas.microsoft.com/office/drawing/2014/main" id="{56AFACC4-4D34-1A5A-F10C-CD50054F5156}"/>
              </a:ext>
            </a:extLst>
          </p:cNvPr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0F5539-BCCD-4FDC-86A6-827E86660078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60595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15439-85AE-45EB-A4FB-9A5CA0A2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PlaceHolder 1">
            <a:extLst>
              <a:ext uri="{FF2B5EF4-FFF2-40B4-BE49-F238E27FC236}">
                <a16:creationId xmlns:a16="http://schemas.microsoft.com/office/drawing/2014/main" id="{47FA666B-5E24-79BE-847B-B130C4C71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07" name="PlaceHolder 2">
            <a:extLst>
              <a:ext uri="{FF2B5EF4-FFF2-40B4-BE49-F238E27FC236}">
                <a16:creationId xmlns:a16="http://schemas.microsoft.com/office/drawing/2014/main" id="{EECF9610-8558-B351-C849-1BB2D0EDDAD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차트 공장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' =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프로젝트 지침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(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하우스 스타일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) +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표준 프롬프트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한 번 세팅하면 데이터만 올리고 표준요청만 보내면 됨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이것이 노코딩 워크플로우의 핵심 산출물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08" name="PlaceHolder 3">
            <a:extLst>
              <a:ext uri="{FF2B5EF4-FFF2-40B4-BE49-F238E27FC236}">
                <a16:creationId xmlns:a16="http://schemas.microsoft.com/office/drawing/2014/main" id="{4062F60A-DFA1-53B9-1A99-A46C9DAA92F5}"/>
              </a:ext>
            </a:extLst>
          </p:cNvPr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0F5539-BCCD-4FDC-86A6-827E86660078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6673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5CE1A-7050-CDF4-FDB5-0D3E7517B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9E464F-87B1-172E-B3F9-4A78163B4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3AFC50-B595-099B-D767-B7B134C7E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 연속 교체해 보는 것이 핵심입니다. 한 번은 우연일 수 있지만 두 번 같으면 재현되는 워크플로우라고 말할 수 있습니다.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3F4A6-4CD2-F2A6-FCB3-545EA180A4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35146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C852E-A500-7031-0668-BDE51E0E0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PlaceHolder 1">
            <a:extLst>
              <a:ext uri="{FF2B5EF4-FFF2-40B4-BE49-F238E27FC236}">
                <a16:creationId xmlns:a16="http://schemas.microsoft.com/office/drawing/2014/main" id="{713C0F15-D176-33DF-A491-C9C5041A8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13" name="PlaceHolder 2">
            <a:extLst>
              <a:ext uri="{FF2B5EF4-FFF2-40B4-BE49-F238E27FC236}">
                <a16:creationId xmlns:a16="http://schemas.microsoft.com/office/drawing/2014/main" id="{04030F94-1B94-606D-40C8-3DB641B96EE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블록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를 블록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3·4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로 잇는 가장 중요한 다리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노코딩은 편하지만 비결정적 → 매번 똑같아야 하는 보고서엔 코드가 필요하다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이 한계 체감이 블록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의 진짜 학습목표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14" name="PlaceHolder 3">
            <a:extLst>
              <a:ext uri="{FF2B5EF4-FFF2-40B4-BE49-F238E27FC236}">
                <a16:creationId xmlns:a16="http://schemas.microsoft.com/office/drawing/2014/main" id="{3DC23D10-849B-5FE1-8F22-6ACB0B1C0484}"/>
              </a:ext>
            </a:extLst>
          </p:cNvPr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659EF3-4EC0-4AD5-AEF8-0ECFDE7F084F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1285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725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6546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817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100644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50E295-A2EB-8AA5-9A34-A34489C7C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7F3DEF9-7493-B391-E539-1314DE954B9E}"/>
              </a:ext>
            </a:extLst>
          </p:cNvPr>
          <p:cNvSpPr/>
          <p:nvPr/>
        </p:nvSpPr>
        <p:spPr>
          <a:xfrm>
            <a:off x="5824728" y="2441448"/>
            <a:ext cx="548640" cy="45720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5DDA93-62D7-0CDC-B245-1FAA3B73CA59}"/>
              </a:ext>
            </a:extLst>
          </p:cNvPr>
          <p:cNvSpPr/>
          <p:nvPr/>
        </p:nvSpPr>
        <p:spPr>
          <a:xfrm>
            <a:off x="640080" y="274320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Projects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반복 업무를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워크플로우로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만들기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C90064-69A2-6E47-BD8F-70BBEB67E92C}"/>
              </a:ext>
            </a:extLst>
          </p:cNvPr>
          <p:cNvSpPr/>
          <p:nvPr/>
        </p:nvSpPr>
        <p:spPr>
          <a:xfrm>
            <a:off x="640080" y="43434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니즈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매월 발간하는 보고서는 매번 유사한 차트가 들어가는데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만드는 작업을 어느정도 자동화 할 수 있는 방법이 없을까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67009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822960" y="457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· 아티팩트</a:t>
            </a:r>
          </a:p>
        </p:txBody>
      </p:sp>
      <p:sp>
        <p:nvSpPr>
          <p:cNvPr id="3" name="Line"/>
          <p:cNvSpPr/>
          <p:nvPr/>
        </p:nvSpPr>
        <p:spPr>
          <a:xfrm>
            <a:off x="2697480" y="598932"/>
            <a:ext cx="866851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Plotly 대시보드 만들기</a:t>
            </a:r>
          </a:p>
        </p:txBody>
      </p:sp>
      <p:sp>
        <p:nvSpPr>
          <p:cNvPr id="5" name="Subtitle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Projects 실습에서 사용할 라이브러리 —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plotly를 직접 지정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인터랙티브 대시보드로 제작</a:t>
            </a:r>
          </a:p>
        </p:txBody>
      </p:sp>
      <p:sp>
        <p:nvSpPr>
          <p:cNvPr id="6" name="Step"/>
          <p:cNvSpPr/>
          <p:nvPr/>
        </p:nvSpPr>
        <p:spPr>
          <a:xfrm>
            <a:off x="822960" y="18897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시각화 자동화 · data 폴더의 </a:t>
            </a: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trackA_admin.csv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업로드 후 아래 프롬프트 전송</a:t>
            </a:r>
          </a:p>
        </p:txBody>
      </p:sp>
      <p:sp>
        <p:nvSpPr>
          <p:cNvPr id="7" name="Shape"/>
          <p:cNvSpPr/>
          <p:nvPr/>
        </p:nvSpPr>
        <p:spPr>
          <a:xfrm>
            <a:off x="822960" y="2313940"/>
            <a:ext cx="10543032" cy="11887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Shape"/>
          <p:cNvSpPr/>
          <p:nvPr/>
        </p:nvSpPr>
        <p:spPr>
          <a:xfrm>
            <a:off x="822960" y="2313940"/>
            <a:ext cx="54864" cy="1188720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Label"/>
          <p:cNvSpPr/>
          <p:nvPr/>
        </p:nvSpPr>
        <p:spPr>
          <a:xfrm>
            <a:off x="1097280" y="2469388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— PLOTLY 인터랙티브 대시보드(아티팩트)</a:t>
            </a:r>
          </a:p>
        </p:txBody>
      </p:sp>
      <p:sp>
        <p:nvSpPr>
          <p:cNvPr id="10" name="Prompt"/>
          <p:cNvSpPr/>
          <p:nvPr/>
        </p:nvSpPr>
        <p:spPr>
          <a:xfrm>
            <a:off x="1097280" y="2761996"/>
            <a:ext cx="9994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업로드한 데이터를 Plotly 인터랙티브 대시보드(아티팩트)로 만들어줘.</a:t>
            </a:r>
          </a:p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흰 배경(plotly_white), 마우스 호버 값, 부서별 색 고정. 한글 폰트 안 깨지게.</a:t>
            </a:r>
          </a:p>
        </p:txBody>
      </p:sp>
      <p:sp>
        <p:nvSpPr>
          <p:cNvPr id="11" name="Shape"/>
          <p:cNvSpPr/>
          <p:nvPr/>
        </p:nvSpPr>
        <p:spPr>
          <a:xfrm>
            <a:off x="822960" y="3776980"/>
            <a:ext cx="5202936" cy="17373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Label"/>
          <p:cNvSpPr/>
          <p:nvPr/>
        </p:nvSpPr>
        <p:spPr>
          <a:xfrm>
            <a:off x="1042416" y="3941572"/>
            <a:ext cx="4764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아티팩트란</a:t>
            </a:r>
          </a:p>
        </p:txBody>
      </p:sp>
      <p:sp>
        <p:nvSpPr>
          <p:cNvPr id="13" name="ArtifactBody"/>
          <p:cNvSpPr/>
          <p:nvPr/>
        </p:nvSpPr>
        <p:spPr>
          <a:xfrm>
            <a:off x="1042416" y="4234180"/>
            <a:ext cx="4764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Claude가 만든 코드·문서·웹앱 같은 결과물을 대화창 옆 별도 창에 띄워 바로 확인·편집·재사용할 수 있게 해주는 기능</a:t>
            </a:r>
          </a:p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실습에서 계속 자연스럽게 접해 온 기능</a:t>
            </a:r>
          </a:p>
        </p:txBody>
      </p:sp>
      <p:sp>
        <p:nvSpPr>
          <p:cNvPr id="14" name="Shape"/>
          <p:cNvSpPr/>
          <p:nvPr/>
        </p:nvSpPr>
        <p:spPr>
          <a:xfrm>
            <a:off x="6163056" y="3776980"/>
            <a:ext cx="5202936" cy="17373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Label"/>
          <p:cNvSpPr/>
          <p:nvPr/>
        </p:nvSpPr>
        <p:spPr>
          <a:xfrm>
            <a:off x="6382512" y="3941572"/>
            <a:ext cx="4764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PLOTLY</a:t>
            </a:r>
          </a:p>
        </p:txBody>
      </p:sp>
      <p:sp>
        <p:nvSpPr>
          <p:cNvPr id="16" name="PlotlyBody"/>
          <p:cNvSpPr/>
          <p:nvPr/>
        </p:nvSpPr>
        <p:spPr>
          <a:xfrm>
            <a:off x="6382512" y="4234180"/>
            <a:ext cx="4764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기능·다양한 차트 유형·Python/JS 호환성이 강점인 시각화 라이브러리</a:t>
            </a:r>
          </a:p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LLM에 plotly를 명시적으로 지정하면 이러한 장점을 갖춘 일관된 대시보드 코드를 안정적으로 생성 가능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yebrow"/>
          <p:cNvSpPr/>
          <p:nvPr/>
        </p:nvSpPr>
        <p:spPr>
          <a:xfrm>
            <a:off x="822960" y="457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· 아티팩트</a:t>
            </a:r>
          </a:p>
        </p:txBody>
      </p:sp>
      <p:sp>
        <p:nvSpPr>
          <p:cNvPr id="20" name="Line"/>
          <p:cNvSpPr/>
          <p:nvPr/>
        </p:nvSpPr>
        <p:spPr>
          <a:xfrm>
            <a:off x="2697480" y="598932"/>
            <a:ext cx="866851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21" name="Title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Plotly 대시보드 만들기 (아티팩트)</a:t>
            </a:r>
          </a:p>
        </p:txBody>
      </p:sp>
      <p:sp>
        <p:nvSpPr>
          <p:cNvPr id="22" name="Subtitle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plotly 라이브러리를 직접 지정해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대시보드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제작한 결과 화면</a:t>
            </a:r>
          </a:p>
        </p:txBody>
      </p:sp>
      <p:pic>
        <p:nvPicPr>
          <p:cNvPr id="23" name="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62150"/>
            <a:ext cx="5012247" cy="4023360"/>
          </a:xfrm>
          <a:prstGeom prst="rect">
            <a:avLst/>
          </a:prstGeom>
          <a:ln w="12700">
            <a:solidFill>
              <a:srgbClr val="4A4430"/>
            </a:solidFill>
          </a:ln>
        </p:spPr>
      </p:pic>
      <p:sp>
        <p:nvSpPr>
          <p:cNvPr id="24" name="Caption"/>
          <p:cNvSpPr/>
          <p:nvPr/>
        </p:nvSpPr>
        <p:spPr>
          <a:xfrm>
            <a:off x="822960" y="6076950"/>
            <a:ext cx="50122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Claude.ai 아티팩트 패널 — Plotly 인터랙티브 대시보드</a:t>
            </a:r>
          </a:p>
        </p:txBody>
      </p:sp>
      <p:sp>
        <p:nvSpPr>
          <p:cNvPr id="25" name="Shape"/>
          <p:cNvSpPr/>
          <p:nvPr/>
        </p:nvSpPr>
        <p:spPr>
          <a:xfrm>
            <a:off x="6200967" y="1962150"/>
            <a:ext cx="5165025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Label"/>
          <p:cNvSpPr/>
          <p:nvPr/>
        </p:nvSpPr>
        <p:spPr>
          <a:xfrm>
            <a:off x="6420423" y="2126742"/>
            <a:ext cx="47261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</a:t>
            </a:r>
          </a:p>
        </p:txBody>
      </p:sp>
      <p:sp>
        <p:nvSpPr>
          <p:cNvPr id="27" name="Note"/>
          <p:cNvSpPr/>
          <p:nvPr/>
        </p:nvSpPr>
        <p:spPr>
          <a:xfrm>
            <a:off x="6420423" y="2419350"/>
            <a:ext cx="47261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Opus 모델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직접 요청 시 더 완성도 높은 결과물 생성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7BAF8-9EAA-8382-ED38-B1052D319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8A6463E-003B-FACA-FCA3-41EA3BCC39CB}"/>
              </a:ext>
            </a:extLst>
          </p:cNvPr>
          <p:cNvSpPr/>
          <p:nvPr/>
        </p:nvSpPr>
        <p:spPr>
          <a:xfrm>
            <a:off x="822960" y="457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왜 프로젝트인가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9AB0EED-D554-5C1B-BA9D-73E3018CFED2}"/>
              </a:ext>
            </a:extLst>
          </p:cNvPr>
          <p:cNvSpPr/>
          <p:nvPr/>
        </p:nvSpPr>
        <p:spPr>
          <a:xfrm>
            <a:off x="2880360" y="598932"/>
            <a:ext cx="848563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AFC94FF-45C2-82EB-80A6-0C9401735A65}"/>
              </a:ext>
            </a:extLst>
          </p:cNvPr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대화로 반복 업무를 하면 매번 처음부터 시작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557DC9A-621C-CF6E-A02C-3DF188500D27}"/>
              </a:ext>
            </a:extLst>
          </p:cNvPr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대화창마다 맥락이 초기화되어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지침·파일·기준을 매번 다시 설명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구조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49DC1E0-87EC-B088-0D20-415760448DB8}"/>
              </a:ext>
            </a:extLst>
          </p:cNvPr>
          <p:cNvSpPr/>
          <p:nvPr/>
        </p:nvSpPr>
        <p:spPr>
          <a:xfrm>
            <a:off x="822960" y="2011680"/>
            <a:ext cx="10543032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87EDA8C-D0CB-609E-EC7C-2632E7084966}"/>
              </a:ext>
            </a:extLst>
          </p:cNvPr>
          <p:cNvSpPr/>
          <p:nvPr/>
        </p:nvSpPr>
        <p:spPr>
          <a:xfrm>
            <a:off x="822960" y="2011680"/>
            <a:ext cx="54864" cy="868680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38868EE-5B37-D33F-FE8C-5B3D2EC557DF}"/>
              </a:ext>
            </a:extLst>
          </p:cNvPr>
          <p:cNvSpPr/>
          <p:nvPr/>
        </p:nvSpPr>
        <p:spPr>
          <a:xfrm>
            <a:off x="1097280" y="2167128"/>
            <a:ext cx="9994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형식과 맥락이 비슷한 업무를 매번 새로운 채팅창에서 이야기 하고 있는 상황이라면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30EC8B9-805B-933D-E951-E5B2B75CA02D}"/>
              </a:ext>
            </a:extLst>
          </p:cNvPr>
          <p:cNvSpPr/>
          <p:nvPr/>
        </p:nvSpPr>
        <p:spPr>
          <a:xfrm>
            <a:off x="822960" y="3200400"/>
            <a:ext cx="3090672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43472DB-04C1-B781-4D94-2893C45E3BDB}"/>
              </a:ext>
            </a:extLst>
          </p:cNvPr>
          <p:cNvSpPr/>
          <p:nvPr/>
        </p:nvSpPr>
        <p:spPr>
          <a:xfrm>
            <a:off x="822960" y="3200400"/>
            <a:ext cx="3090672" cy="36576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1DDBC02-898B-CA6B-A693-D92ECEBC3D4E}"/>
              </a:ext>
            </a:extLst>
          </p:cNvPr>
          <p:cNvSpPr/>
          <p:nvPr/>
        </p:nvSpPr>
        <p:spPr>
          <a:xfrm>
            <a:off x="932688" y="336499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맥락이 매번 리셋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7BF182E-49BC-EC91-6905-4778150C4CAC}"/>
              </a:ext>
            </a:extLst>
          </p:cNvPr>
          <p:cNvSpPr/>
          <p:nvPr/>
        </p:nvSpPr>
        <p:spPr>
          <a:xfrm>
            <a:off x="932688" y="365760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배경·용어·기준을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대화마다 다시 설명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9ABAFD9-6231-7B7F-1100-B1F37F2B9C4F}"/>
              </a:ext>
            </a:extLst>
          </p:cNvPr>
          <p:cNvSpPr/>
          <p:nvPr/>
        </p:nvSpPr>
        <p:spPr>
          <a:xfrm>
            <a:off x="3968496" y="3200400"/>
            <a:ext cx="566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5189EB2-5178-09F0-9B66-9E1F930D5C20}"/>
              </a:ext>
            </a:extLst>
          </p:cNvPr>
          <p:cNvSpPr/>
          <p:nvPr/>
        </p:nvSpPr>
        <p:spPr>
          <a:xfrm>
            <a:off x="4549140" y="3200400"/>
            <a:ext cx="3090672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9F888B7-97D3-4C65-C761-CACADFC70A3D}"/>
              </a:ext>
            </a:extLst>
          </p:cNvPr>
          <p:cNvSpPr/>
          <p:nvPr/>
        </p:nvSpPr>
        <p:spPr>
          <a:xfrm>
            <a:off x="4549140" y="3200400"/>
            <a:ext cx="3090672" cy="36576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2A98D60-A1C8-0F16-7E62-0B9A9C95DF67}"/>
              </a:ext>
            </a:extLst>
          </p:cNvPr>
          <p:cNvSpPr/>
          <p:nvPr/>
        </p:nvSpPr>
        <p:spPr>
          <a:xfrm>
            <a:off x="4658868" y="336499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결과물이 제각각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67174BA-D2CE-4927-9A4A-1FAEACEAAE0C}"/>
              </a:ext>
            </a:extLst>
          </p:cNvPr>
          <p:cNvSpPr/>
          <p:nvPr/>
        </p:nvSpPr>
        <p:spPr>
          <a:xfrm>
            <a:off x="4658868" y="365760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요청도 대화창이 다르면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형식·톤이 달라짐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49FC9AC-6219-D737-5D0D-5D1AB88624BE}"/>
              </a:ext>
            </a:extLst>
          </p:cNvPr>
          <p:cNvSpPr/>
          <p:nvPr/>
        </p:nvSpPr>
        <p:spPr>
          <a:xfrm>
            <a:off x="7694676" y="3200400"/>
            <a:ext cx="566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EBA06E1-7320-C484-12A7-93DD6599DFC0}"/>
              </a:ext>
            </a:extLst>
          </p:cNvPr>
          <p:cNvSpPr/>
          <p:nvPr/>
        </p:nvSpPr>
        <p:spPr>
          <a:xfrm>
            <a:off x="8275320" y="3200400"/>
            <a:ext cx="3090672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12A823A-B278-0337-DD15-495D348C0325}"/>
              </a:ext>
            </a:extLst>
          </p:cNvPr>
          <p:cNvSpPr/>
          <p:nvPr/>
        </p:nvSpPr>
        <p:spPr>
          <a:xfrm>
            <a:off x="8275320" y="3200400"/>
            <a:ext cx="3090672" cy="36576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51D828D-DAA0-5E5E-61CB-05B9953F7FBE}"/>
              </a:ext>
            </a:extLst>
          </p:cNvPr>
          <p:cNvSpPr/>
          <p:nvPr/>
        </p:nvSpPr>
        <p:spPr>
          <a:xfrm>
            <a:off x="8385048" y="336499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매번 재업로드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60BA8AB-320D-2872-6EF8-F245930B3EEC}"/>
              </a:ext>
            </a:extLst>
          </p:cNvPr>
          <p:cNvSpPr/>
          <p:nvPr/>
        </p:nvSpPr>
        <p:spPr>
          <a:xfrm>
            <a:off x="8385048" y="365760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양식·이전 산출물이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대화창에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존재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BF2EBE7-608E-2E4E-6D29-1A6214D5C937}"/>
              </a:ext>
            </a:extLst>
          </p:cNvPr>
          <p:cNvSpPr/>
          <p:nvPr/>
        </p:nvSpPr>
        <p:spPr>
          <a:xfrm>
            <a:off x="822960" y="4617720"/>
            <a:ext cx="10543032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82B477D-6326-4A85-0F81-44A0E223439B}"/>
              </a:ext>
            </a:extLst>
          </p:cNvPr>
          <p:cNvSpPr/>
          <p:nvPr/>
        </p:nvSpPr>
        <p:spPr>
          <a:xfrm>
            <a:off x="1042416" y="4736592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EB25CDF-2DFA-747C-256C-7D7F53476A18}"/>
              </a:ext>
            </a:extLst>
          </p:cNvPr>
          <p:cNvSpPr/>
          <p:nvPr/>
        </p:nvSpPr>
        <p:spPr>
          <a:xfrm>
            <a:off x="1042416" y="5001768"/>
            <a:ext cx="10104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프로젝트는 지침 · 참고파일 · 대화 이력을 한 공간에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고정하는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331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F146FE-523F-157A-60D7-57C91F432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BA91A4B-9E50-E48A-6CC5-7BA1A7995E82}"/>
              </a:ext>
            </a:extLst>
          </p:cNvPr>
          <p:cNvSpPr/>
          <p:nvPr/>
        </p:nvSpPr>
        <p:spPr>
          <a:xfrm>
            <a:off x="822960" y="457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구성 요소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601AE5E-C46B-FC60-D0BF-92BD469C571B}"/>
              </a:ext>
            </a:extLst>
          </p:cNvPr>
          <p:cNvSpPr/>
          <p:nvPr/>
        </p:nvSpPr>
        <p:spPr>
          <a:xfrm>
            <a:off x="2880360" y="598932"/>
            <a:ext cx="848563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E13A44A-3381-9A87-2802-A92CEB2E3FBC}"/>
              </a:ext>
            </a:extLst>
          </p:cNvPr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구성요소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가지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4007B77-C943-9896-043F-75C6DCEB140B}"/>
              </a:ext>
            </a:extLst>
          </p:cNvPr>
          <p:cNvSpPr/>
          <p:nvPr/>
        </p:nvSpPr>
        <p:spPr>
          <a:xfrm>
            <a:off x="822960" y="13670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우측 패널에서 지침과 참고파일을 관리하고,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채팅창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하단에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대화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이력이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7B62B66-B829-0B1B-FD3E-674634FFA6F5}"/>
              </a:ext>
            </a:extLst>
          </p:cNvPr>
          <p:cNvSpPr/>
          <p:nvPr/>
        </p:nvSpPr>
        <p:spPr>
          <a:xfrm>
            <a:off x="822960" y="1792224"/>
            <a:ext cx="6446520" cy="120700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CFBE5C6-CA42-0D7B-5665-C3811EC9801A}"/>
              </a:ext>
            </a:extLst>
          </p:cNvPr>
          <p:cNvSpPr/>
          <p:nvPr/>
        </p:nvSpPr>
        <p:spPr>
          <a:xfrm>
            <a:off x="1042416" y="192024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AEBE26A-6B7E-9CE5-694D-91D1347A70EA}"/>
              </a:ext>
            </a:extLst>
          </p:cNvPr>
          <p:cNvSpPr/>
          <p:nvPr/>
        </p:nvSpPr>
        <p:spPr>
          <a:xfrm>
            <a:off x="1042416" y="217627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프로젝트에서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지켜야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할 규칙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75BA5DF-E072-6120-25D3-5D2333141B97}"/>
              </a:ext>
            </a:extLst>
          </p:cNvPr>
          <p:cNvSpPr/>
          <p:nvPr/>
        </p:nvSpPr>
        <p:spPr>
          <a:xfrm>
            <a:off x="1042416" y="2487168"/>
            <a:ext cx="5989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지침에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형식·톤·금지사항을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번만 적어 두면 프로젝트 내 모든 대화에 자동 적용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C14B5BC-C410-AE15-A3A1-6B8B5E7CD2F1}"/>
              </a:ext>
            </a:extLst>
          </p:cNvPr>
          <p:cNvSpPr/>
          <p:nvPr/>
        </p:nvSpPr>
        <p:spPr>
          <a:xfrm>
            <a:off x="822960" y="3182112"/>
            <a:ext cx="6446520" cy="120700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E568688-7A6B-4905-E074-59F2EDD3FF44}"/>
              </a:ext>
            </a:extLst>
          </p:cNvPr>
          <p:cNvSpPr/>
          <p:nvPr/>
        </p:nvSpPr>
        <p:spPr>
          <a:xfrm>
            <a:off x="1042416" y="3310128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· 참고파일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A2124C8-AA85-93EA-950B-E1B41AF9486F}"/>
              </a:ext>
            </a:extLst>
          </p:cNvPr>
          <p:cNvSpPr/>
          <p:nvPr/>
        </p:nvSpPr>
        <p:spPr>
          <a:xfrm>
            <a:off x="1042416" y="356616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반복해서 참조할 자료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C5DFD74-D0EE-FF77-CF32-AB08C4930D08}"/>
              </a:ext>
            </a:extLst>
          </p:cNvPr>
          <p:cNvSpPr/>
          <p:nvPr/>
        </p:nvSpPr>
        <p:spPr>
          <a:xfrm>
            <a:off x="1042416" y="3877056"/>
            <a:ext cx="5989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양식, 기준 데이터, 이전 산출물 등을 올려 두면 매번 재업로드할 필요 없음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2DE3816-D6A5-E805-2301-407AD6180C5A}"/>
              </a:ext>
            </a:extLst>
          </p:cNvPr>
          <p:cNvSpPr/>
          <p:nvPr/>
        </p:nvSpPr>
        <p:spPr>
          <a:xfrm>
            <a:off x="822960" y="4572000"/>
            <a:ext cx="6446520" cy="1609344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A70B049-E5FF-4951-57FA-71052C61B2E6}"/>
              </a:ext>
            </a:extLst>
          </p:cNvPr>
          <p:cNvSpPr/>
          <p:nvPr/>
        </p:nvSpPr>
        <p:spPr>
          <a:xfrm>
            <a:off x="1042416" y="4700016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이력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1EBB162-5B81-C1A1-D5C3-1CF505B8343D}"/>
              </a:ext>
            </a:extLst>
          </p:cNvPr>
          <p:cNvSpPr/>
          <p:nvPr/>
        </p:nvSpPr>
        <p:spPr>
          <a:xfrm>
            <a:off x="1042416" y="4956048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안에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서만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쌓이는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이력들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7E33E3E-A0D4-894B-0F67-09D026AC4CB5}"/>
              </a:ext>
            </a:extLst>
          </p:cNvPr>
          <p:cNvSpPr/>
          <p:nvPr/>
        </p:nvSpPr>
        <p:spPr>
          <a:xfrm>
            <a:off x="1042416" y="5266944"/>
            <a:ext cx="5989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내 이전 대화는 기본으로 검색 가능하며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'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채팅에서 메모리 생성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켜면 핵심 맥락이 자동 누적되어 요청 없이도 반영됨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 범위가 해당 프로젝트로 한정되어 있음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프로젝트나 일반 채팅과는 채팅 내용을 공유 안함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CD6CC9F-587C-BCDD-2E5B-D0B7FC2CA47F}"/>
              </a:ext>
            </a:extLst>
          </p:cNvPr>
          <p:cNvSpPr/>
          <p:nvPr/>
        </p:nvSpPr>
        <p:spPr>
          <a:xfrm>
            <a:off x="7635240" y="2011680"/>
            <a:ext cx="3730752" cy="395020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pic>
        <p:nvPicPr>
          <p:cNvPr id="19" name="Image 0" descr="ox/ppt/media/image2.png">
            <a:extLst>
              <a:ext uri="{FF2B5EF4-FFF2-40B4-BE49-F238E27FC236}">
                <a16:creationId xmlns:a16="http://schemas.microsoft.com/office/drawing/2014/main" id="{D71259D3-78AD-9894-1E89-2A755A32C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2304288"/>
            <a:ext cx="3054096" cy="3127248"/>
          </a:xfrm>
          <a:prstGeom prst="rect">
            <a:avLst/>
          </a:prstGeom>
        </p:spPr>
      </p:pic>
      <p:sp>
        <p:nvSpPr>
          <p:cNvPr id="20" name="Text 17">
            <a:extLst>
              <a:ext uri="{FF2B5EF4-FFF2-40B4-BE49-F238E27FC236}">
                <a16:creationId xmlns:a16="http://schemas.microsoft.com/office/drawing/2014/main" id="{8021689E-194D-F590-AAE1-0896E8DC9739}"/>
              </a:ext>
            </a:extLst>
          </p:cNvPr>
          <p:cNvSpPr/>
          <p:nvPr/>
        </p:nvSpPr>
        <p:spPr>
          <a:xfrm>
            <a:off x="7854696" y="5504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Claude.ai 프로젝트 화면 우측 패널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7668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19074-A66B-5599-4DDA-726E8A912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1DF5C50-8D54-557C-071D-1D75F7DAD50C}"/>
              </a:ext>
            </a:extLst>
          </p:cNvPr>
          <p:cNvSpPr/>
          <p:nvPr/>
        </p:nvSpPr>
        <p:spPr>
          <a:xfrm>
            <a:off x="2880360" y="598932"/>
            <a:ext cx="848563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D0ACC36-44E9-6F17-F7E8-1751F665AF00}"/>
              </a:ext>
            </a:extLst>
          </p:cNvPr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만들고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지침을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B845521-1041-50BE-E4DD-6B1393AB2ACC}"/>
              </a:ext>
            </a:extLst>
          </p:cNvPr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지침은 그 프로젝트 안의 모든 대화에 자동으로 적용된다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3CD4D2C-7029-1B22-09A1-CCE04302256C}"/>
              </a:ext>
            </a:extLst>
          </p:cNvPr>
          <p:cNvSpPr/>
          <p:nvPr/>
        </p:nvSpPr>
        <p:spPr>
          <a:xfrm>
            <a:off x="822960" y="2011680"/>
            <a:ext cx="5148072" cy="26060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7594498-65C6-E534-F0FB-28C715E7D203}"/>
              </a:ext>
            </a:extLst>
          </p:cNvPr>
          <p:cNvSpPr/>
          <p:nvPr/>
        </p:nvSpPr>
        <p:spPr>
          <a:xfrm>
            <a:off x="1042416" y="21762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48219F4-0646-32DD-F4F4-C54CF4D67AD2}"/>
              </a:ext>
            </a:extLst>
          </p:cNvPr>
          <p:cNvSpPr/>
          <p:nvPr/>
        </p:nvSpPr>
        <p:spPr>
          <a:xfrm>
            <a:off x="1042416" y="24688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프로젝트 생성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56495F2-0921-EE05-D2EB-71DAFD6CCC92}"/>
              </a:ext>
            </a:extLst>
          </p:cNvPr>
          <p:cNvSpPr/>
          <p:nvPr/>
        </p:nvSpPr>
        <p:spPr>
          <a:xfrm>
            <a:off x="1097280" y="2880360"/>
            <a:ext cx="4654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Claude.ai 좌측 메뉴에서 Projects 선택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‘새 프로젝트’ 클릭 후 이름 입력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예시 — 보고서 차트 공장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9F44AEE-34C7-C628-CF21-1F691AA77D1C}"/>
              </a:ext>
            </a:extLst>
          </p:cNvPr>
          <p:cNvSpPr/>
          <p:nvPr/>
        </p:nvSpPr>
        <p:spPr>
          <a:xfrm>
            <a:off x="1042416" y="39319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이름은 </a:t>
            </a:r>
            <a:r>
              <a:rPr kumimoji="0" lang="en-US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9A95F0B-8B7B-C116-E63D-DE83E7C66DF5}"/>
              </a:ext>
            </a:extLst>
          </p:cNvPr>
          <p:cNvSpPr/>
          <p:nvPr/>
        </p:nvSpPr>
        <p:spPr>
          <a:xfrm>
            <a:off x="6217920" y="2011680"/>
            <a:ext cx="5148072" cy="26060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8ABC761-6DD4-ED82-83D5-A6EE6C7AC8B2}"/>
              </a:ext>
            </a:extLst>
          </p:cNvPr>
          <p:cNvSpPr/>
          <p:nvPr/>
        </p:nvSpPr>
        <p:spPr>
          <a:xfrm>
            <a:off x="6437376" y="21762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9D8BF77-C3A8-CBE0-7B92-A95CD52A16F5}"/>
              </a:ext>
            </a:extLst>
          </p:cNvPr>
          <p:cNvSpPr/>
          <p:nvPr/>
        </p:nvSpPr>
        <p:spPr>
          <a:xfrm>
            <a:off x="6437376" y="24688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지침 등록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3934329-E440-4A90-4710-18B5F95574F7}"/>
              </a:ext>
            </a:extLst>
          </p:cNvPr>
          <p:cNvSpPr/>
          <p:nvPr/>
        </p:nvSpPr>
        <p:spPr>
          <a:xfrm>
            <a:off x="6492240" y="2880360"/>
            <a:ext cx="46542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패널의 ‘지침’ 옆 + 버튼 클릭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장의 지침 내용을 붙여넣기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후 지침이 등록되었는지 확인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DBD9322-065F-112C-0C27-2A427D0D8860}"/>
              </a:ext>
            </a:extLst>
          </p:cNvPr>
          <p:cNvSpPr/>
          <p:nvPr/>
        </p:nvSpPr>
        <p:spPr>
          <a:xfrm>
            <a:off x="6437376" y="39319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지침은 언제든 수정 가능. 처음부터 완벽할 필요 </a:t>
            </a:r>
            <a:r>
              <a:rPr kumimoji="0" lang="en-US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없이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쓰면서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다듬기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5476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3D7FF-7D3F-25B9-3AF9-A9F55A11D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B79B61-114C-A612-56AC-2A35C022D181}"/>
              </a:ext>
            </a:extLst>
          </p:cNvPr>
          <p:cNvSpPr/>
          <p:nvPr/>
        </p:nvSpPr>
        <p:spPr>
          <a:xfrm>
            <a:off x="822960" y="457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실습 STEP 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CC72CF-AADC-0207-3EBE-75FEB90400F3}"/>
              </a:ext>
            </a:extLst>
          </p:cNvPr>
          <p:cNvSpPr/>
          <p:nvPr/>
        </p:nvSpPr>
        <p:spPr>
          <a:xfrm>
            <a:off x="2880360" y="598932"/>
            <a:ext cx="848563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BF4D9A5-6868-21FD-8299-72C742D3325D}"/>
              </a:ext>
            </a:extLst>
          </p:cNvPr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지침 예시 —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하우스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82C8F1D-FB81-C386-9B25-E9A83EBAF56C}"/>
              </a:ext>
            </a:extLst>
          </p:cNvPr>
          <p:cNvSpPr/>
          <p:nvPr/>
        </p:nvSpPr>
        <p:spPr>
          <a:xfrm>
            <a:off x="824484" y="1356699"/>
            <a:ext cx="10543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내용을 그대로 복사해 프로젝트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지침에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붙여넣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하단에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들어가도록 명시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EB48A24-7533-5EB7-9EBF-1E5BE1416AA3}"/>
              </a:ext>
            </a:extLst>
          </p:cNvPr>
          <p:cNvSpPr/>
          <p:nvPr/>
        </p:nvSpPr>
        <p:spPr>
          <a:xfrm>
            <a:off x="822960" y="2011680"/>
            <a:ext cx="6903720" cy="39319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AC4AB3-A8AB-8EE7-5CA7-4481E712244B}"/>
              </a:ext>
            </a:extLst>
          </p:cNvPr>
          <p:cNvSpPr/>
          <p:nvPr/>
        </p:nvSpPr>
        <p:spPr>
          <a:xfrm>
            <a:off x="1060704" y="2176272"/>
            <a:ext cx="6446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붙여넣을 지침 전문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9F4C616-6EB8-DFEC-FB54-C0663E5473D8}"/>
              </a:ext>
            </a:extLst>
          </p:cNvPr>
          <p:cNvSpPr/>
          <p:nvPr/>
        </p:nvSpPr>
        <p:spPr>
          <a:xfrm>
            <a:off x="1060704" y="2523744"/>
            <a:ext cx="6446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[하우스 스타일 차트 생성 지침 — CSV 업로드 또는 차트·그래프 요청 시에만 적용]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CSV가 업로드되거나 차트 생성을 요청받으면 KISTI 보고서 스타일로 그린다.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흰 배경 / 위·오른쪽 축선 제거 / 가로 그리드만 옅게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하단에 항상 KISTI 표기, “출처:” 라인 포함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제목 좌측 정렬 + 회색 부제 / 범례 위쪽 / 한글 폰트 깨짐 방지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부서·국가 색상 매핑: (여기에 고정 색상표 명시)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차트 종류 지정이 없으면 보고서에 유용한 형태를 추천한 뒤 제작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Plotly로 그리고 plotly.js를 HTML 파일 자체에 내장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기본 세트 — 묶음막대(부서×월 예산집행), 집행률 추이 선, 연간 집행액 도넛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차트와 무관한 일반 질문에는 이 지침을 적용하지 말고 평소처럼 답변한다.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FB5D9B5-ABC0-CD57-89E9-956033634E6A}"/>
              </a:ext>
            </a:extLst>
          </p:cNvPr>
          <p:cNvSpPr/>
          <p:nvPr/>
        </p:nvSpPr>
        <p:spPr>
          <a:xfrm>
            <a:off x="8046720" y="2011680"/>
            <a:ext cx="3319272" cy="39319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7175457-004A-27B3-B610-66DCF45C2AD0}"/>
              </a:ext>
            </a:extLst>
          </p:cNvPr>
          <p:cNvSpPr/>
          <p:nvPr/>
        </p:nvSpPr>
        <p:spPr>
          <a:xfrm>
            <a:off x="8266176" y="217627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</a:t>
            </a: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900" b="1" i="0" u="none" strike="noStrike" kern="0" cap="none" spc="20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</a:t>
            </a: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FDF95BB-2899-069D-B713-DCC996456A3A}"/>
              </a:ext>
            </a:extLst>
          </p:cNvPr>
          <p:cNvSpPr/>
          <p:nvPr/>
        </p:nvSpPr>
        <p:spPr>
          <a:xfrm>
            <a:off x="8266176" y="25420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적용 조건을 적는다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F93DC3A-470A-B62E-7069-36F952F42FE5}"/>
              </a:ext>
            </a:extLst>
          </p:cNvPr>
          <p:cNvSpPr/>
          <p:nvPr/>
        </p:nvSpPr>
        <p:spPr>
          <a:xfrm>
            <a:off x="8266176" y="28346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이 규칙을 쓰는지 첫 줄에 명시 — 조건이 없으면 모든 대화에 과하게 적용된다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ED412B1-25F9-0A25-97F5-C6BD8153512F}"/>
              </a:ext>
            </a:extLst>
          </p:cNvPr>
          <p:cNvSpPr/>
          <p:nvPr/>
        </p:nvSpPr>
        <p:spPr>
          <a:xfrm>
            <a:off x="8266176" y="36758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결과 형식을 못 박는다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7F22B67-C5FC-981B-E309-A662EADC0006}"/>
              </a:ext>
            </a:extLst>
          </p:cNvPr>
          <p:cNvSpPr/>
          <p:nvPr/>
        </p:nvSpPr>
        <p:spPr>
          <a:xfrm>
            <a:off x="8266176" y="3968496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색·정렬·표기처럼 매번 지적하던 항목을 문장으로 고정한다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1241D92-12F6-2E41-51FE-CF2C712BF4A2}"/>
              </a:ext>
            </a:extLst>
          </p:cNvPr>
          <p:cNvSpPr/>
          <p:nvPr/>
        </p:nvSpPr>
        <p:spPr>
          <a:xfrm>
            <a:off x="8266176" y="480974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예외를 적어 둔다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BB54574-3BA8-217B-E2B4-41BD7897147D}"/>
              </a:ext>
            </a:extLst>
          </p:cNvPr>
          <p:cNvSpPr/>
          <p:nvPr/>
        </p:nvSpPr>
        <p:spPr>
          <a:xfrm>
            <a:off x="8266176" y="5102352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‘이럴 땐 적용하지 않는다’를 함께 적어야 일반 질문이 방해받지 않는다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413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C00C43-FDE0-D34E-2F21-564F1B052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85E8E4-D46E-95C6-8719-C577DA3071E7}"/>
              </a:ext>
            </a:extLst>
          </p:cNvPr>
          <p:cNvSpPr/>
          <p:nvPr/>
        </p:nvSpPr>
        <p:spPr>
          <a:xfrm>
            <a:off x="822960" y="457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 STEP 3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A3F2763-3F9E-6515-CD0D-B14523819B62}"/>
              </a:ext>
            </a:extLst>
          </p:cNvPr>
          <p:cNvSpPr/>
          <p:nvPr/>
        </p:nvSpPr>
        <p:spPr>
          <a:xfrm>
            <a:off x="2880360" y="598932"/>
            <a:ext cx="848563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B4054E-5D16-2CF1-9499-5E7A1F635D13}"/>
              </a:ext>
            </a:extLst>
          </p:cNvPr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파일을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올리고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워크플로우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작업을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355B78D-CC66-6B18-E53B-58812DE7D5D0}"/>
              </a:ext>
            </a:extLst>
          </p:cNvPr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안에서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프롬프트 붙어 넣기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trackA_admin.csv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 전송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7C3B74E-B7A5-2830-72F4-46483DA37BBF}"/>
              </a:ext>
            </a:extLst>
          </p:cNvPr>
          <p:cNvSpPr/>
          <p:nvPr/>
        </p:nvSpPr>
        <p:spPr>
          <a:xfrm>
            <a:off x="822960" y="2011680"/>
            <a:ext cx="10543032" cy="1234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7AF379D-11C7-7E15-3D96-4CD3D23B49DF}"/>
              </a:ext>
            </a:extLst>
          </p:cNvPr>
          <p:cNvSpPr/>
          <p:nvPr/>
        </p:nvSpPr>
        <p:spPr>
          <a:xfrm>
            <a:off x="822960" y="2011680"/>
            <a:ext cx="54864" cy="1234440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563EE0F-D963-5128-E32C-893CC970FBFD}"/>
              </a:ext>
            </a:extLst>
          </p:cNvPr>
          <p:cNvSpPr/>
          <p:nvPr/>
        </p:nvSpPr>
        <p:spPr>
          <a:xfrm>
            <a:off x="1097280" y="2157984"/>
            <a:ext cx="9994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요청 프롬프트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AE65616-F13F-402B-949F-73ED086EA2BF}"/>
              </a:ext>
            </a:extLst>
          </p:cNvPr>
          <p:cNvSpPr/>
          <p:nvPr/>
        </p:nvSpPr>
        <p:spPr>
          <a:xfrm>
            <a:off x="1097280" y="2450592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CSV로 우리 하우스 스타일 차트 세트를 그려줘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91EF9CDB-274A-289F-E7E7-3DF95E92641D}"/>
              </a:ext>
            </a:extLst>
          </p:cNvPr>
          <p:cNvSpPr/>
          <p:nvPr/>
        </p:nvSpPr>
        <p:spPr>
          <a:xfrm>
            <a:off x="746760" y="3683000"/>
            <a:ext cx="10543032" cy="925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marR="0" lvl="0" indent="-15240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지침이 반영되었는지 확인하기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52400" marR="0" lvl="0" indent="-15240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쉬운 확인 방법은 하단에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적힌 글씨가 있는지 보기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 내용에 있음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39124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"/>
          <p:cNvSpPr/>
          <p:nvPr/>
        </p:nvSpPr>
        <p:spPr>
          <a:xfrm>
            <a:off x="822960" y="457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· 지침이 여러 개일 때</a:t>
            </a:r>
          </a:p>
        </p:txBody>
      </p:sp>
      <p:sp>
        <p:nvSpPr>
          <p:cNvPr id="31" name="Line"/>
          <p:cNvSpPr/>
          <p:nvPr/>
        </p:nvSpPr>
        <p:spPr>
          <a:xfrm>
            <a:off x="3520440" y="598932"/>
            <a:ext cx="784555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32" name="Title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괄호 태그는 자동으로 실행되는 스위치가 아님</a:t>
            </a:r>
          </a:p>
        </p:txBody>
      </p:sp>
      <p:sp>
        <p:nvSpPr>
          <p:cNvPr id="33" name="Subtitle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지침을 적용할지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활성화 규칙으로 직접 명시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필요</a:t>
            </a:r>
          </a:p>
        </p:txBody>
      </p:sp>
      <p:sp>
        <p:nvSpPr>
          <p:cNvPr id="34" name="Shape"/>
          <p:cNvSpPr/>
          <p:nvPr/>
        </p:nvSpPr>
        <p:spPr>
          <a:xfrm>
            <a:off x="822960" y="1889760"/>
            <a:ext cx="10543032" cy="7315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Shape"/>
          <p:cNvSpPr/>
          <p:nvPr/>
        </p:nvSpPr>
        <p:spPr>
          <a:xfrm>
            <a:off x="822960" y="1889760"/>
            <a:ext cx="54864" cy="731520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/>
        </p:txBody>
      </p:sp>
      <p:sp>
        <p:nvSpPr>
          <p:cNvPr id="36" name="Callout"/>
          <p:cNvSpPr/>
          <p:nvPr/>
        </p:nvSpPr>
        <p:spPr>
          <a:xfrm>
            <a:off x="1097280" y="2017776"/>
            <a:ext cx="9994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지침은 전문이 모든 대화에 항상 로드됨</a:t>
            </a:r>
          </a:p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여러 지침 사용 시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“무조건 실행될 것(공통)”과 “골라 쓸 것(오버레이)”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구조적으로 분리</a:t>
            </a:r>
          </a:p>
        </p:txBody>
      </p:sp>
      <p:sp>
        <p:nvSpPr>
          <p:cNvPr id="37" name="Shape"/>
          <p:cNvSpPr/>
          <p:nvPr/>
        </p:nvSpPr>
        <p:spPr>
          <a:xfrm>
            <a:off x="822960" y="2804160"/>
            <a:ext cx="10543032" cy="3438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/>
        </p:txBody>
      </p:sp>
      <p:sp>
        <p:nvSpPr>
          <p:cNvPr id="38" name="Label"/>
          <p:cNvSpPr/>
          <p:nvPr/>
        </p:nvSpPr>
        <p:spPr>
          <a:xfrm>
            <a:off x="1097280" y="2959608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지침</a:t>
            </a:r>
          </a:p>
        </p:txBody>
      </p:sp>
      <p:sp>
        <p:nvSpPr>
          <p:cNvPr id="39" name="GuideBody"/>
          <p:cNvSpPr/>
          <p:nvPr/>
        </p:nvSpPr>
        <p:spPr>
          <a:xfrm>
            <a:off x="1097280" y="3252216"/>
            <a:ext cx="9994392" cy="2843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[하우스 스타일 차트 생성 지침 — CSV 업로드 또는 차트/그래프 요청 시에만 적용]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《공통 규칙 — 항상 적용》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CSV가 업로드되거나 차트 생성을 요청받으면 KISTI 보고서 스타일로 그린다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흰 배경 / 위·오른쪽 축선 제거 / 가로 그리드만 옅게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하단에 항상 KISTI 표기, “출처:” 라인 포함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제목 좌측 정렬 + 회색 부제 / 범례 위쪽 / 한글 폰트 깨짐 방지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부서·국가 색상 매핑: (여기에 고정 색상표 명시)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차트 종류 지정이 없으면 보고서에 유용한 형태를 추천한 뒤 제작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Plotly로 그리고 plotly.js를 HTML 파일 자체에 내장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기본 세트 — 묶음막대(부서×월 예산집행), 집행률 추이 선, 연간 집행액 도넛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《오버레이 — 프롬프트에 [국방부 공고]를 명시한 경우에만 아래 항목으로 공통 규칙을 덮어쓰며, 명시가 없으면 무시》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[국방부 공고]: 하단 기관 표기를 '국방부 ax 프로젝트'로 교체 / 폰트는 고딕체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Eyebrow"/>
          <p:cNvSpPr/>
          <p:nvPr/>
        </p:nvSpPr>
        <p:spPr>
          <a:xfrm>
            <a:off x="822960" y="457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· 지침이 여러 개일 때</a:t>
            </a:r>
          </a:p>
        </p:txBody>
      </p:sp>
      <p:sp>
        <p:nvSpPr>
          <p:cNvPr id="43" name="Line"/>
          <p:cNvSpPr/>
          <p:nvPr/>
        </p:nvSpPr>
        <p:spPr>
          <a:xfrm>
            <a:off x="3520440" y="598932"/>
            <a:ext cx="784555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4" name="Title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국방부 공고 스타일로 차트 만들기</a:t>
            </a:r>
          </a:p>
        </p:txBody>
      </p:sp>
      <p:sp>
        <p:nvSpPr>
          <p:cNvPr id="45" name="Subtitle"/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하단에 KISTI 대신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'국방부 ax 프로젝트'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기재되었는지 확인</a:t>
            </a:r>
          </a:p>
        </p:txBody>
      </p:sp>
      <p:sp>
        <p:nvSpPr>
          <p:cNvPr id="46" name="Shape"/>
          <p:cNvSpPr/>
          <p:nvPr/>
        </p:nvSpPr>
        <p:spPr>
          <a:xfrm>
            <a:off x="822960" y="2011680"/>
            <a:ext cx="10543032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/>
        </p:txBody>
      </p:sp>
      <p:sp>
        <p:nvSpPr>
          <p:cNvPr id="47" name="Shape"/>
          <p:cNvSpPr/>
          <p:nvPr/>
        </p:nvSpPr>
        <p:spPr>
          <a:xfrm>
            <a:off x="822960" y="2011680"/>
            <a:ext cx="54864" cy="1005840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/>
        </p:txBody>
      </p:sp>
      <p:sp>
        <p:nvSpPr>
          <p:cNvPr id="48" name="Label"/>
          <p:cNvSpPr/>
          <p:nvPr/>
        </p:nvSpPr>
        <p:spPr>
          <a:xfrm>
            <a:off x="1097280" y="2167128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[국방부 공고] 스타일 프롬프트</a:t>
            </a:r>
          </a:p>
        </p:txBody>
      </p:sp>
      <p:sp>
        <p:nvSpPr>
          <p:cNvPr id="49" name="Prompt"/>
          <p:cNvSpPr/>
          <p:nvPr/>
        </p:nvSpPr>
        <p:spPr>
          <a:xfrm>
            <a:off x="1097280" y="2459736"/>
            <a:ext cx="9994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[국방부 공고] 스타일로 첨부 CSV로 우리 하우스 스타일 차트 세트를 그려줘</a:t>
            </a:r>
          </a:p>
        </p:txBody>
      </p:sp>
      <p:sp>
        <p:nvSpPr>
          <p:cNvPr id="50" name="Shape"/>
          <p:cNvSpPr/>
          <p:nvPr/>
        </p:nvSpPr>
        <p:spPr>
          <a:xfrm>
            <a:off x="822960" y="3246120"/>
            <a:ext cx="10543032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/>
        </p:txBody>
      </p:sp>
      <p:sp>
        <p:nvSpPr>
          <p:cNvPr id="51" name="Label"/>
          <p:cNvSpPr/>
          <p:nvPr/>
        </p:nvSpPr>
        <p:spPr>
          <a:xfrm>
            <a:off x="1042416" y="3364992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</a:p>
        </p:txBody>
      </p:sp>
      <p:sp>
        <p:nvSpPr>
          <p:cNvPr id="52" name="Key"/>
          <p:cNvSpPr/>
          <p:nvPr/>
        </p:nvSpPr>
        <p:spPr>
          <a:xfrm>
            <a:off x="1042416" y="3630168"/>
            <a:ext cx="10104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데이터만 올리고 '[차트 생성 표준 지침]'만 보내면 지침대로 </a:t>
            </a: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스타일로 재생산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Eyebrow"/>
          <p:cNvSpPr/>
          <p:nvPr/>
        </p:nvSpPr>
        <p:spPr>
          <a:xfrm>
            <a:off x="822960" y="457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 · 지침 선별 사용</a:t>
            </a:r>
          </a:p>
        </p:txBody>
      </p:sp>
      <p:sp>
        <p:nvSpPr>
          <p:cNvPr id="56" name="Line"/>
          <p:cNvSpPr/>
          <p:nvPr/>
        </p:nvSpPr>
        <p:spPr>
          <a:xfrm>
            <a:off x="3246120" y="598932"/>
            <a:ext cx="811987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57" name="Title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각기 다른 지침을 선별적으로 사용해야 할 경우 상황에 따라 대처</a:t>
            </a:r>
          </a:p>
        </p:txBody>
      </p:sp>
      <p:sp>
        <p:nvSpPr>
          <p:cNvPr id="58" name="Subtitle"/>
          <p:cNvSpPr/>
          <p:nvPr/>
        </p:nvSpPr>
        <p:spPr>
          <a:xfrm>
            <a:off x="822960" y="1481328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지침이 섞였을 때의 리스크가 적고 지침 수가 적으면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활성화 규칙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충분</a:t>
            </a: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격리가 반드시 보장돼야 하거나 지침이 많아지면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분리 또는 Skills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활용</a:t>
            </a:r>
          </a:p>
        </p:txBody>
      </p:sp>
      <p:sp>
        <p:nvSpPr>
          <p:cNvPr id="59" name="Shape"/>
          <p:cNvSpPr/>
          <p:nvPr/>
        </p:nvSpPr>
        <p:spPr>
          <a:xfrm>
            <a:off x="822960" y="2606040"/>
            <a:ext cx="3422904" cy="15087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/>
        </p:txBody>
      </p:sp>
      <p:sp>
        <p:nvSpPr>
          <p:cNvPr id="60" name="Shape"/>
          <p:cNvSpPr/>
          <p:nvPr/>
        </p:nvSpPr>
        <p:spPr>
          <a:xfrm>
            <a:off x="822960" y="2606040"/>
            <a:ext cx="3422904" cy="36576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/>
        </p:txBody>
      </p:sp>
      <p:sp>
        <p:nvSpPr>
          <p:cNvPr id="61" name="OptHead"/>
          <p:cNvSpPr/>
          <p:nvPr/>
        </p:nvSpPr>
        <p:spPr>
          <a:xfrm>
            <a:off x="1042416" y="2807208"/>
            <a:ext cx="2983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활성화 규칙 명시</a:t>
            </a:r>
          </a:p>
        </p:txBody>
      </p:sp>
      <p:sp>
        <p:nvSpPr>
          <p:cNvPr id="62" name="OptBody"/>
          <p:cNvSpPr/>
          <p:nvPr/>
        </p:nvSpPr>
        <p:spPr>
          <a:xfrm>
            <a:off x="1042416" y="3154680"/>
            <a:ext cx="2983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앞장 방식 — 가장 간편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LLM의 지침 준수는 확률적이라 100% 격리는 보장되지 않음</a:t>
            </a:r>
          </a:p>
        </p:txBody>
      </p:sp>
      <p:sp>
        <p:nvSpPr>
          <p:cNvPr id="63" name="Shape"/>
          <p:cNvSpPr/>
          <p:nvPr/>
        </p:nvSpPr>
        <p:spPr>
          <a:xfrm>
            <a:off x="4383024" y="2606040"/>
            <a:ext cx="3422904" cy="15087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/>
        </p:txBody>
      </p:sp>
      <p:sp>
        <p:nvSpPr>
          <p:cNvPr id="64" name="Shape"/>
          <p:cNvSpPr/>
          <p:nvPr/>
        </p:nvSpPr>
        <p:spPr>
          <a:xfrm>
            <a:off x="4383024" y="2606040"/>
            <a:ext cx="3422904" cy="36576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/>
        </p:txBody>
      </p:sp>
      <p:sp>
        <p:nvSpPr>
          <p:cNvPr id="65" name="OptHead"/>
          <p:cNvSpPr/>
          <p:nvPr/>
        </p:nvSpPr>
        <p:spPr>
          <a:xfrm>
            <a:off x="4602480" y="2807208"/>
            <a:ext cx="2983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프로젝트 분리</a:t>
            </a:r>
          </a:p>
        </p:txBody>
      </p:sp>
      <p:sp>
        <p:nvSpPr>
          <p:cNvPr id="66" name="OptBody"/>
          <p:cNvSpPr/>
          <p:nvPr/>
        </p:nvSpPr>
        <p:spPr>
          <a:xfrm>
            <a:off x="4602480" y="3154680"/>
            <a:ext cx="2983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기관·스타일별로 프로젝트를 나눔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구조적으로 격리가 보장되는 가장 확실한 방법</a:t>
            </a:r>
          </a:p>
        </p:txBody>
      </p:sp>
      <p:sp>
        <p:nvSpPr>
          <p:cNvPr id="67" name="Shape"/>
          <p:cNvSpPr/>
          <p:nvPr/>
        </p:nvSpPr>
        <p:spPr>
          <a:xfrm>
            <a:off x="7943088" y="2606040"/>
            <a:ext cx="3422904" cy="15087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/>
        </p:txBody>
      </p:sp>
      <p:sp>
        <p:nvSpPr>
          <p:cNvPr id="68" name="Shape"/>
          <p:cNvSpPr/>
          <p:nvPr/>
        </p:nvSpPr>
        <p:spPr>
          <a:xfrm>
            <a:off x="7943088" y="2606040"/>
            <a:ext cx="3422904" cy="36576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/>
        </p:txBody>
      </p:sp>
      <p:sp>
        <p:nvSpPr>
          <p:cNvPr id="69" name="OptHead"/>
          <p:cNvSpPr/>
          <p:nvPr/>
        </p:nvSpPr>
        <p:spPr>
          <a:xfrm>
            <a:off x="8162544" y="2807208"/>
            <a:ext cx="2983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Skills</a:t>
            </a:r>
          </a:p>
        </p:txBody>
      </p:sp>
      <p:sp>
        <p:nvSpPr>
          <p:cNvPr id="70" name="OptBody"/>
          <p:cNvSpPr/>
          <p:nvPr/>
        </p:nvSpPr>
        <p:spPr>
          <a:xfrm>
            <a:off x="8162544" y="3154680"/>
            <a:ext cx="2983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지침을 스킬로 등록하면 관련 작업일 때만 로드됨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'골라 쓰는 지침'을 위한 공식 기능</a:t>
            </a:r>
          </a:p>
        </p:txBody>
      </p:sp>
      <p:sp>
        <p:nvSpPr>
          <p:cNvPr id="71" name="Shape"/>
          <p:cNvSpPr/>
          <p:nvPr/>
        </p:nvSpPr>
        <p:spPr>
          <a:xfrm>
            <a:off x="822960" y="4343400"/>
            <a:ext cx="10543032" cy="1097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/>
        </p:txBody>
      </p:sp>
      <p:sp>
        <p:nvSpPr>
          <p:cNvPr id="72" name="Label"/>
          <p:cNvSpPr/>
          <p:nvPr/>
        </p:nvSpPr>
        <p:spPr>
          <a:xfrm>
            <a:off x="1042416" y="4462272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</a:p>
        </p:txBody>
      </p:sp>
      <p:sp>
        <p:nvSpPr>
          <p:cNvPr id="73" name="Key"/>
          <p:cNvSpPr/>
          <p:nvPr/>
        </p:nvSpPr>
        <p:spPr>
          <a:xfrm>
            <a:off x="1042416" y="4727448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데이터를 공유하는 Projects 작업에서 여러 지침 중 필요한 것만 선별해 사용할 때의 가이드</a:t>
            </a:r>
          </a:p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기관별 산출물처럼 섞이면 안 되는 작업은 </a:t>
            </a: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②·③ 사용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프롬프트 우회책(①)에만 의존하지 않도록 주의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4569A-D853-080D-F670-479511282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753F25B-6FD7-9965-01F9-66DB0B4884E2}"/>
              </a:ext>
            </a:extLst>
          </p:cNvPr>
          <p:cNvSpPr/>
          <p:nvPr/>
        </p:nvSpPr>
        <p:spPr>
          <a:xfrm>
            <a:off x="822960" y="457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실습 STEP 4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8A27870-20A9-96EC-0AC4-3EC265052CC7}"/>
              </a:ext>
            </a:extLst>
          </p:cNvPr>
          <p:cNvSpPr/>
          <p:nvPr/>
        </p:nvSpPr>
        <p:spPr>
          <a:xfrm>
            <a:off x="2880360" y="598932"/>
            <a:ext cx="848563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4441D39-B0D3-3094-0471-8443698DDCC2}"/>
              </a:ext>
            </a:extLst>
          </p:cNvPr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데이터만 바꿔도 같은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형식으로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재생산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82FD466-8368-5A34-8DB1-F4E54F0B0D7F}"/>
              </a:ext>
            </a:extLst>
          </p:cNvPr>
          <p:cNvSpPr/>
          <p:nvPr/>
        </p:nvSpPr>
        <p:spPr>
          <a:xfrm>
            <a:off x="822960" y="14813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스키마가 같으면 거의 동일한 형태로, 다르더라도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지침에 최대한 맞춰 통일성 있게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생성된다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0497560-6DF2-A411-E82B-D30DB8E3B11D}"/>
              </a:ext>
            </a:extLst>
          </p:cNvPr>
          <p:cNvSpPr/>
          <p:nvPr/>
        </p:nvSpPr>
        <p:spPr>
          <a:xfrm>
            <a:off x="822960" y="2148840"/>
            <a:ext cx="2450592" cy="1600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1E2C7FF-EC8D-11AC-E354-70D13BFD4A28}"/>
              </a:ext>
            </a:extLst>
          </p:cNvPr>
          <p:cNvSpPr/>
          <p:nvPr/>
        </p:nvSpPr>
        <p:spPr>
          <a:xfrm>
            <a:off x="822960" y="2148840"/>
            <a:ext cx="2450592" cy="36576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67BCF62-0642-B6EA-CDD7-945220BD9AF9}"/>
              </a:ext>
            </a:extLst>
          </p:cNvPr>
          <p:cNvSpPr/>
          <p:nvPr/>
        </p:nvSpPr>
        <p:spPr>
          <a:xfrm>
            <a:off x="969264" y="23774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호 데이터 업로드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9AEB67C-093C-3631-1AFA-A8713CEEFA8A}"/>
              </a:ext>
            </a:extLst>
          </p:cNvPr>
          <p:cNvSpPr/>
          <p:nvPr/>
        </p:nvSpPr>
        <p:spPr>
          <a:xfrm>
            <a:off x="969264" y="292608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양식의 CSV를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프로젝트에 첨부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FAEDD34-7186-A377-5CEC-8DB076829F32}"/>
              </a:ext>
            </a:extLst>
          </p:cNvPr>
          <p:cNvSpPr/>
          <p:nvPr/>
        </p:nvSpPr>
        <p:spPr>
          <a:xfrm>
            <a:off x="3291840" y="2148840"/>
            <a:ext cx="228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3BF6380-7995-B6CC-9F91-F8CE5D47245D}"/>
              </a:ext>
            </a:extLst>
          </p:cNvPr>
          <p:cNvSpPr/>
          <p:nvPr/>
        </p:nvSpPr>
        <p:spPr>
          <a:xfrm>
            <a:off x="3520440" y="2148840"/>
            <a:ext cx="2450592" cy="1600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20DBA56-0BB7-B43E-1878-54DCB1CDCC38}"/>
              </a:ext>
            </a:extLst>
          </p:cNvPr>
          <p:cNvSpPr/>
          <p:nvPr/>
        </p:nvSpPr>
        <p:spPr>
          <a:xfrm>
            <a:off x="3520440" y="2148840"/>
            <a:ext cx="2450592" cy="36576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8A8064C-AABE-A553-D820-F5E27AE13CAD}"/>
              </a:ext>
            </a:extLst>
          </p:cNvPr>
          <p:cNvSpPr/>
          <p:nvPr/>
        </p:nvSpPr>
        <p:spPr>
          <a:xfrm>
            <a:off x="3666744" y="23774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프롬프트 전송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B680BEC-E9A2-4881-35CF-D803911A86E1}"/>
              </a:ext>
            </a:extLst>
          </p:cNvPr>
          <p:cNvSpPr/>
          <p:nvPr/>
        </p:nvSpPr>
        <p:spPr>
          <a:xfrm>
            <a:off x="3666744" y="292608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인해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규칙이 재적용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4F26F03-0BEA-6AA4-5BD9-B207C1DD1ABB}"/>
              </a:ext>
            </a:extLst>
          </p:cNvPr>
          <p:cNvSpPr/>
          <p:nvPr/>
        </p:nvSpPr>
        <p:spPr>
          <a:xfrm>
            <a:off x="5989320" y="2148840"/>
            <a:ext cx="228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DF9978C-231F-04F2-C246-1375700D77EC}"/>
              </a:ext>
            </a:extLst>
          </p:cNvPr>
          <p:cNvSpPr/>
          <p:nvPr/>
        </p:nvSpPr>
        <p:spPr>
          <a:xfrm>
            <a:off x="6217920" y="2148840"/>
            <a:ext cx="2450592" cy="1600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EB90B19-F94C-525D-7253-7EF90053D1C5}"/>
              </a:ext>
            </a:extLst>
          </p:cNvPr>
          <p:cNvSpPr/>
          <p:nvPr/>
        </p:nvSpPr>
        <p:spPr>
          <a:xfrm>
            <a:off x="6217920" y="2148840"/>
            <a:ext cx="2450592" cy="36576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C98CC28-69E7-5DE7-27D7-434DC6A1E2A4}"/>
              </a:ext>
            </a:extLst>
          </p:cNvPr>
          <p:cNvSpPr/>
          <p:nvPr/>
        </p:nvSpPr>
        <p:spPr>
          <a:xfrm>
            <a:off x="6364224" y="23774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모양 산출물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D9193F4-7023-3AB5-2314-974714FA7DBB}"/>
              </a:ext>
            </a:extLst>
          </p:cNvPr>
          <p:cNvSpPr/>
          <p:nvPr/>
        </p:nvSpPr>
        <p:spPr>
          <a:xfrm>
            <a:off x="6364224" y="292608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숫자만 바뀐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형식의 차트 세트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AA27B29-CAAF-7739-F287-B22ABC62CA89}"/>
              </a:ext>
            </a:extLst>
          </p:cNvPr>
          <p:cNvSpPr/>
          <p:nvPr/>
        </p:nvSpPr>
        <p:spPr>
          <a:xfrm>
            <a:off x="8686800" y="2148840"/>
            <a:ext cx="228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536FBD5-4E3C-2DE8-DEC4-1D88610616AB}"/>
              </a:ext>
            </a:extLst>
          </p:cNvPr>
          <p:cNvSpPr/>
          <p:nvPr/>
        </p:nvSpPr>
        <p:spPr>
          <a:xfrm>
            <a:off x="8915400" y="2148840"/>
            <a:ext cx="2450592" cy="1600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332493C-6290-6A0C-F7C9-EF434B9B14B4}"/>
              </a:ext>
            </a:extLst>
          </p:cNvPr>
          <p:cNvSpPr/>
          <p:nvPr/>
        </p:nvSpPr>
        <p:spPr>
          <a:xfrm>
            <a:off x="8915400" y="2148840"/>
            <a:ext cx="2450592" cy="36576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08FB7D9-7385-3383-3435-C9B975DDD6A9}"/>
              </a:ext>
            </a:extLst>
          </p:cNvPr>
          <p:cNvSpPr/>
          <p:nvPr/>
        </p:nvSpPr>
        <p:spPr>
          <a:xfrm>
            <a:off x="9061704" y="23774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워크플로우로 이용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77982A6-51BB-653B-2CD4-23548B9354BE}"/>
              </a:ext>
            </a:extLst>
          </p:cNvPr>
          <p:cNvSpPr/>
          <p:nvPr/>
        </p:nvSpPr>
        <p:spPr>
          <a:xfrm>
            <a:off x="9061704" y="292608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반복해도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유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62471D8-61EF-3F70-93F3-7BD3732FEE19}"/>
              </a:ext>
            </a:extLst>
          </p:cNvPr>
          <p:cNvSpPr/>
          <p:nvPr/>
        </p:nvSpPr>
        <p:spPr>
          <a:xfrm>
            <a:off x="822959" y="4069080"/>
            <a:ext cx="10928774" cy="14173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DF31722-409D-A0D8-0E82-89A4FABF19B0}"/>
              </a:ext>
            </a:extLst>
          </p:cNvPr>
          <p:cNvSpPr/>
          <p:nvPr/>
        </p:nvSpPr>
        <p:spPr>
          <a:xfrm>
            <a:off x="1042416" y="42336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해 보기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2952A82-A563-F37B-5442-86FAFD5AEF53}"/>
              </a:ext>
            </a:extLst>
          </p:cNvPr>
          <p:cNvSpPr/>
          <p:nvPr/>
        </p:nvSpPr>
        <p:spPr>
          <a:xfrm>
            <a:off x="1042415" y="4526280"/>
            <a:ext cx="103235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trackA_operation.csv 를 올린 뒤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보내고, 앞서 만든 차트와 형식이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유지되는지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CSV로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하우스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세트를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그려줘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8393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Eyebrow"/>
          <p:cNvSpPr/>
          <p:nvPr/>
        </p:nvSpPr>
        <p:spPr>
          <a:xfrm>
            <a:off x="822960" y="457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2 · 꼭 알아둘 개념</a:t>
            </a:r>
          </a:p>
        </p:txBody>
      </p:sp>
      <p:sp>
        <p:nvSpPr>
          <p:cNvPr id="77" name="Line"/>
          <p:cNvSpPr/>
          <p:nvPr/>
        </p:nvSpPr>
        <p:spPr>
          <a:xfrm>
            <a:off x="3246120" y="598932"/>
            <a:ext cx="8119872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78" name="Title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Projects 템플릿이 잘 되는 경우와 노코딩의 한계</a:t>
            </a:r>
          </a:p>
        </p:txBody>
      </p:sp>
      <p:sp>
        <p:nvSpPr>
          <p:cNvPr id="79" name="Shape"/>
          <p:cNvSpPr/>
          <p:nvPr/>
        </p:nvSpPr>
        <p:spPr>
          <a:xfrm>
            <a:off x="822960" y="1737360"/>
            <a:ext cx="5202936" cy="15544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/>
        </p:txBody>
      </p:sp>
      <p:sp>
        <p:nvSpPr>
          <p:cNvPr id="80" name="Shape"/>
          <p:cNvSpPr/>
          <p:nvPr/>
        </p:nvSpPr>
        <p:spPr>
          <a:xfrm>
            <a:off x="822960" y="1737360"/>
            <a:ext cx="5202936" cy="36576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/>
        </p:txBody>
      </p:sp>
      <p:sp>
        <p:nvSpPr>
          <p:cNvPr id="81" name="Text"/>
          <p:cNvSpPr/>
          <p:nvPr/>
        </p:nvSpPr>
        <p:spPr>
          <a:xfrm>
            <a:off x="1042416" y="1938528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간에 스키마(열 구성)가 같으면</a:t>
            </a:r>
          </a:p>
        </p:txBody>
      </p:sp>
      <p:sp>
        <p:nvSpPr>
          <p:cNvPr id="82" name="Text"/>
          <p:cNvSpPr/>
          <p:nvPr/>
        </p:nvSpPr>
        <p:spPr>
          <a:xfrm>
            <a:off x="1042416" y="2304288"/>
            <a:ext cx="4764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데이터만 올려 그대로 재생산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색·스타일·구성 전부 유지, 별도 수정 불필요</a:t>
            </a:r>
          </a:p>
        </p:txBody>
      </p:sp>
      <p:sp>
        <p:nvSpPr>
          <p:cNvPr id="83" name="Shape"/>
          <p:cNvSpPr/>
          <p:nvPr/>
        </p:nvSpPr>
        <p:spPr>
          <a:xfrm>
            <a:off x="6163056" y="1737360"/>
            <a:ext cx="5202936" cy="15544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/>
        </p:txBody>
      </p:sp>
      <p:sp>
        <p:nvSpPr>
          <p:cNvPr id="84" name="Shape"/>
          <p:cNvSpPr/>
          <p:nvPr/>
        </p:nvSpPr>
        <p:spPr>
          <a:xfrm>
            <a:off x="6163056" y="1737360"/>
            <a:ext cx="5202936" cy="36576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/>
        </p:txBody>
      </p:sp>
      <p:sp>
        <p:nvSpPr>
          <p:cNvPr id="85" name="Text"/>
          <p:cNvSpPr/>
          <p:nvPr/>
        </p:nvSpPr>
        <p:spPr>
          <a:xfrm>
            <a:off x="6382512" y="1938528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간에 스키마가 다르면</a:t>
            </a:r>
          </a:p>
        </p:txBody>
      </p:sp>
      <p:sp>
        <p:nvSpPr>
          <p:cNvPr id="86" name="Text"/>
          <p:cNvSpPr/>
          <p:nvPr/>
        </p:nvSpPr>
        <p:spPr>
          <a:xfrm>
            <a:off x="6382512" y="2304288"/>
            <a:ext cx="4764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포맷이 달라질 수 있어 지침 수정이 필요할 수 있음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스타일은 유지되지만 매핑(어떤 열을 쓸지)은 다시 지정</a:t>
            </a:r>
          </a:p>
        </p:txBody>
      </p:sp>
      <p:sp>
        <p:nvSpPr>
          <p:cNvPr id="87" name="Shape"/>
          <p:cNvSpPr/>
          <p:nvPr/>
        </p:nvSpPr>
        <p:spPr>
          <a:xfrm>
            <a:off x="822960" y="3474720"/>
            <a:ext cx="5202936" cy="15544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/>
        </p:txBody>
      </p:sp>
      <p:sp>
        <p:nvSpPr>
          <p:cNvPr id="88" name="Label"/>
          <p:cNvSpPr/>
          <p:nvPr/>
        </p:nvSpPr>
        <p:spPr>
          <a:xfrm>
            <a:off x="1042416" y="3639312"/>
            <a:ext cx="4764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 선택</a:t>
            </a:r>
          </a:p>
        </p:txBody>
      </p:sp>
      <p:sp>
        <p:nvSpPr>
          <p:cNvPr id="89" name="Text"/>
          <p:cNvSpPr/>
          <p:nvPr/>
        </p:nvSpPr>
        <p:spPr>
          <a:xfrm>
            <a:off x="1042416" y="3931920"/>
            <a:ext cx="4764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 모드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(차트 종류를 내가 지정)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모드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(AI가 선택)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상황에 맞게 선택해 사용</a:t>
            </a:r>
          </a:p>
        </p:txBody>
      </p:sp>
      <p:sp>
        <p:nvSpPr>
          <p:cNvPr id="90" name="Shape"/>
          <p:cNvSpPr/>
          <p:nvPr/>
        </p:nvSpPr>
        <p:spPr>
          <a:xfrm>
            <a:off x="6163056" y="3474720"/>
            <a:ext cx="5202936" cy="15544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/>
        </p:txBody>
      </p:sp>
      <p:sp>
        <p:nvSpPr>
          <p:cNvPr id="91" name="Label"/>
          <p:cNvSpPr/>
          <p:nvPr/>
        </p:nvSpPr>
        <p:spPr>
          <a:xfrm>
            <a:off x="6382512" y="3639312"/>
            <a:ext cx="4764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노코딩의 한계 — 결정성</a:t>
            </a:r>
          </a:p>
        </p:txBody>
      </p:sp>
      <p:sp>
        <p:nvSpPr>
          <p:cNvPr id="92" name="Text"/>
          <p:cNvSpPr/>
          <p:nvPr/>
        </p:nvSpPr>
        <p:spPr>
          <a:xfrm>
            <a:off x="6382512" y="3931920"/>
            <a:ext cx="4764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노코딩은 일관적이지만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 결정적이지는 않음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(같은 요청도 미세하게 달라질 수 있음)</a:t>
            </a:r>
          </a:p>
          <a:p>
            <a:pPr marL="0" marR="0" lvl="0" indent="0" algn="l" defTabSz="914400" rtl="0" eaLnBrk="1" fontAlgn="auto" latinLnBrk="0" hangingPunct="1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'항상 똑같이'가 필요한 보고서엔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답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2278</Words>
  <Application>Microsoft Office PowerPoint</Application>
  <PresentationFormat>와이드스크린</PresentationFormat>
  <Paragraphs>198</Paragraphs>
  <Slides>13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13</vt:i4>
      </vt:variant>
    </vt:vector>
  </HeadingPairs>
  <TitlesOfParts>
    <vt:vector size="23" baseType="lpstr">
      <vt:lpstr>Malgun Gothic</vt:lpstr>
      <vt:lpstr>Malgun Gothic</vt:lpstr>
      <vt:lpstr>Arial</vt:lpstr>
      <vt:lpstr>Calibri</vt:lpstr>
      <vt:lpstr>Courier New</vt:lpstr>
      <vt:lpstr>Symbol</vt:lpstr>
      <vt:lpstr>Times New Roman</vt:lpstr>
      <vt:lpstr>Wingdings</vt:lpstr>
      <vt:lpstr>Office Theme</vt:lpstr>
      <vt:lpstr>1_Office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think</dc:creator>
  <cp:lastModifiedBy>think</cp:lastModifiedBy>
  <cp:revision>1</cp:revision>
  <dcterms:created xsi:type="dcterms:W3CDTF">2026-08-27T12:34:58Z</dcterms:created>
  <dcterms:modified xsi:type="dcterms:W3CDTF">2026-08-27T12:45:33Z</dcterms:modified>
</cp:coreProperties>
</file>