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319" r:id="rId2"/>
    <p:sldId id="317" r:id="rId3"/>
    <p:sldId id="318" r:id="rId4"/>
    <p:sldId id="285" r:id="rId5"/>
    <p:sldId id="289" r:id="rId6"/>
    <p:sldId id="291" r:id="rId7"/>
    <p:sldId id="286" r:id="rId8"/>
    <p:sldId id="288" r:id="rId9"/>
    <p:sldId id="290" r:id="rId10"/>
    <p:sldId id="292" r:id="rId11"/>
    <p:sldId id="293" r:id="rId12"/>
    <p:sldId id="294" r:id="rId13"/>
    <p:sldId id="295" r:id="rId14"/>
    <p:sldId id="296" r:id="rId15"/>
    <p:sldId id="297" r:id="rId16"/>
    <p:sldId id="320" r:id="rId17"/>
    <p:sldId id="321" r:id="rId18"/>
    <p:sldId id="322" r:id="rId19"/>
    <p:sldId id="299" r:id="rId20"/>
    <p:sldId id="300" r:id="rId21"/>
    <p:sldId id="301" r:id="rId22"/>
    <p:sldId id="298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23" r:id="rId35"/>
    <p:sldId id="324" r:id="rId36"/>
    <p:sldId id="32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4E212-0B84-47F0-9C68-37DA93DA69FC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47927-C641-4CA8-897C-C8E27979A9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87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982A-556B-6606-2D3C-EA6E30C4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B2191-F105-18E2-9CF8-A4ED4A83F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4AEBF-8806-93E3-14F2-2F41C9B45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D002E-A715-4BC4-D10D-954534CC3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219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1E58-B7B1-FFDF-689F-A5E77B34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97A47-5906-D3EC-7B0E-3C85A7B97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0ECEF-B180-2F66-E543-E7913886A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1AC9-8388-65E7-036F-902548E5B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970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715C-E14B-DEE1-5427-5FFACC94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E8798-DF1B-AAC8-8A94-6AFC6857E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913A3-3BB0-EAD4-524E-97868D95D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58109-33C6-EB50-6364-26998D205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70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ED56-D0AB-F049-3DF5-4DB65FED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E0AFF-4945-E6D0-8265-184A778AB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03064-5667-36CD-DE37-68F879430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FF68F-70F6-DD73-0CE5-E86AC3B97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658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743E-EE27-D83B-3CC5-8262EE09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902B0-9986-F921-5168-D177BE7E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F3A7E-3240-E84C-7A0F-EC799CAB9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4EC5F-9F43-D65A-2B52-FF10E4B29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21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6AC1-4DAD-3A59-438A-E5E12E3B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F202-B401-73EE-160E-0F660F641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BCFC5-CC4F-6FC6-DCAB-33DDA6DEC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4BDF9-46BB-6582-B3AE-D7AC9C8AC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462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0A0A-B1D4-2165-4F2B-81E00B21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7FC36-3A8D-58F1-FA67-743913CF4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0539A-FF51-DA8B-3492-3CD2A3A35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6C2F9-8E98-54FE-69B3-35803425F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974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DCDA0-139E-65F3-36E2-0042AD16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AFDD1-265D-184B-C523-2D0FC5206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6341B-704B-6824-12F5-98D771F50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FA9D3-CB2B-566D-5B11-D155F4FF6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612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7105-D8A5-E1D0-8883-D0627B2F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23FD7-29AF-AF67-FBBC-A58C854A9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3B41F-AC0F-015C-CE9F-6DC8D36DC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80910-115F-6A9F-AB89-343F9EE00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480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4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48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DEF17-820B-812E-0572-33531BDD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703A6-7EAB-9E47-B0B0-662886F9BC43}"/>
              </a:ext>
            </a:extLst>
          </p:cNvPr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9C4076-4D16-0DD0-BECC-19F62E14AAA4}"/>
              </a:ext>
            </a:extLst>
          </p:cNvPr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80F581-0346-6D2D-4611-9377F23FB950}"/>
              </a:ext>
            </a:extLst>
          </p:cNvPr>
          <p:cNvSpPr/>
          <p:nvPr/>
        </p:nvSpPr>
        <p:spPr>
          <a:xfrm>
            <a:off x="640080" y="3063239"/>
            <a:ext cx="10911535" cy="100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시간이 오래 걸려서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미리 생성 걸어두기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18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44417-75A3-7F2B-BB81-68A92016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293DF2-CA71-0845-B731-2C338CA845AA}"/>
              </a:ext>
            </a:extLst>
          </p:cNvPr>
          <p:cNvSpPr/>
          <p:nvPr/>
        </p:nvSpPr>
        <p:spPr>
          <a:xfrm>
            <a:off x="822960" y="457200"/>
            <a:ext cx="237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프로젝트 시작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EDA0C8-7142-4864-8869-0D2607F6A1B7}"/>
              </a:ext>
            </a:extLst>
          </p:cNvPr>
          <p:cNvSpPr/>
          <p:nvPr/>
        </p:nvSpPr>
        <p:spPr>
          <a:xfrm>
            <a:off x="3243580" y="598932"/>
            <a:ext cx="81251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3A97F7-FFBE-D792-7883-24F65AFB2DA0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CF214F-912F-9D99-B28F-775DF34C8408}"/>
              </a:ext>
            </a:extLst>
          </p:cNvPr>
          <p:cNvSpPr/>
          <p:nvPr/>
        </p:nvSpPr>
        <p:spPr>
          <a:xfrm>
            <a:off x="822960" y="1920240"/>
            <a:ext cx="5120640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4E1E0D-9839-291C-8368-DAC62942B0AF}"/>
              </a:ext>
            </a:extLst>
          </p:cNvPr>
          <p:cNvSpPr/>
          <p:nvPr/>
        </p:nvSpPr>
        <p:spPr>
          <a:xfrm>
            <a:off x="1060704" y="1920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6A5A00-241B-DDA2-D118-C89DB27FB20B}"/>
              </a:ext>
            </a:extLst>
          </p:cNvPr>
          <p:cNvSpPr/>
          <p:nvPr/>
        </p:nvSpPr>
        <p:spPr>
          <a:xfrm>
            <a:off x="1563624" y="19202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claude.ai/design 이동 — 또는 Claude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메뉴에서 Design 선택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51362EA-6884-A533-7343-F4C8A497B91A}"/>
              </a:ext>
            </a:extLst>
          </p:cNvPr>
          <p:cNvSpPr/>
          <p:nvPr/>
        </p:nvSpPr>
        <p:spPr>
          <a:xfrm>
            <a:off x="1005840" y="2834640"/>
            <a:ext cx="4754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192B04-58BE-F0B9-30F4-58DA9AFB4657}"/>
              </a:ext>
            </a:extLst>
          </p:cNvPr>
          <p:cNvSpPr/>
          <p:nvPr/>
        </p:nvSpPr>
        <p:spPr>
          <a:xfrm>
            <a:off x="1060704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8FDDA3-E2AC-6197-EB8B-26E180D568F4}"/>
              </a:ext>
            </a:extLst>
          </p:cNvPr>
          <p:cNvSpPr/>
          <p:nvPr/>
        </p:nvSpPr>
        <p:spPr>
          <a:xfrm>
            <a:off x="1563624" y="28346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Slides 버튼 클릭 — UI 명칭·위치는 수시로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변경, 기능 기준으로 확인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FC9D72-04D4-C6BF-D6F4-384C9D1EC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20" y="1920240"/>
            <a:ext cx="5882019" cy="318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7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346F2-1E52-524E-7174-9B99CA7C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53E198-9DA4-218A-D385-805AAE28BA6C}"/>
              </a:ext>
            </a:extLst>
          </p:cNvPr>
          <p:cNvSpPr/>
          <p:nvPr/>
        </p:nvSpPr>
        <p:spPr>
          <a:xfrm>
            <a:off x="822960" y="457200"/>
            <a:ext cx="1584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생성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5B46A0-1E8B-5802-21F2-3CA614EADA36}"/>
              </a:ext>
            </a:extLst>
          </p:cNvPr>
          <p:cNvSpPr/>
          <p:nvPr/>
        </p:nvSpPr>
        <p:spPr>
          <a:xfrm>
            <a:off x="2453005" y="598932"/>
            <a:ext cx="89157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6A88F6-2616-DD07-CF03-D4B9BA06A961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</a:t>
            </a: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 + 디자인 지시를 붙여넣어 덱 생성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21B0A-880D-0D08-11CD-72A81CFBCC3D}"/>
              </a:ext>
            </a:extLst>
          </p:cNvPr>
          <p:cNvSpPr txBox="1"/>
          <p:nvPr/>
        </p:nvSpPr>
        <p:spPr>
          <a:xfrm>
            <a:off x="814870" y="144811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버튼으로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강의자료에 첨부한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‘ppt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설계도 프롬프트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.txt’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복사해서 채팅에 붙여넣기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41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35000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5176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Design으로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 PPT로 만들고 편집하기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→ 콘텐츠 구조화 → PPT 생성 → 편집 · Export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63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강의 개요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19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88235" y="598932"/>
            <a:ext cx="898050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desktop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실습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직접 접속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주소창에 claude.ai/design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Design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78376" y="1783080"/>
            <a:ext cx="3271418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7832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kumimoji="0" lang="en-US" altLang="ko-KR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97832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97832" y="2642616"/>
            <a:ext cx="28325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메뉴에서 Design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19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강의 개요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88235" y="598932"/>
            <a:ext cx="898050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— 세 단계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채팅으로 내용 구조화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48074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1578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578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4661306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Design으로 PPT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76693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0197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0197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&amp; Export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3271418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3538728"/>
            <a:ext cx="283250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보고서를 슬라이드 콘텐츠로 구조화. 목차와 슬라이드별 핵심 메시지 확정.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60138" y="3063240"/>
            <a:ext cx="3271418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9594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79594" y="3538728"/>
            <a:ext cx="283250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붙여넣기 + 원본 파일 첨부. PPT(HTML 캔버스) 초안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97317" y="3063240"/>
            <a:ext cx="3271418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6773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16773" y="3538728"/>
            <a:ext cx="283250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다듬기. PPTX / PDF / Canva 등으로 내보내기.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채팅은 내용 설계에, Design은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시각화·레이아웃에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19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강의 개요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88235" y="598932"/>
            <a:ext cx="898050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것이 효율적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3108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채팅 — 무엇을 담을지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50008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슬라이드에 담을 핵심 메시지·구조 정리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장수·흐름·메시지 위계를 먼저 확정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중심의 빠른 반복 수정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48072" cy="3108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DESIGN — 어떻게 보일지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350008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내용을 디자인된 슬라이드로 생성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차트·아이콘·레이아웃으로 시각화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HTML 캔버스에서 다듬기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1663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완료하고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마지막에 작업하면 효율적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19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88235" y="598932"/>
            <a:ext cx="898050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362124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2362124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50844" y="1783080"/>
            <a:ext cx="2362124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0844" y="1783080"/>
            <a:ext cx="2362124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0" name="Text 8"/>
          <p:cNvSpPr/>
          <p:nvPr/>
        </p:nvSpPr>
        <p:spPr>
          <a:xfrm>
            <a:off x="3550844" y="178308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78728" y="1783080"/>
            <a:ext cx="2362124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783080"/>
            <a:ext cx="2362124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78728" y="178308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06611" y="1783080"/>
            <a:ext cx="2362124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611" y="1783080"/>
            <a:ext cx="2362124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611" y="178308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플랜은 사용 불가 — 별도 요금제가 아니라 기존 구독 사용량을 공유하는 방식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후 계속 사용하려면 'extra usage(추가 사용량)' 활성화 필요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조직은 기본 비활성화 상태 존재 — 안 보이면 관리자에게 Organization settings에서 활성화 요청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베타 단계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공식 지원 문서 기준. 기능·화면은 계속 변경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63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슬라이드 내용 구성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30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내용 설계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03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내용 구성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899410" y="598932"/>
            <a:ext cx="846932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채팅에서 보고서를 '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21360" y="1484715"/>
            <a:ext cx="10545775" cy="17007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9104" y="1484715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2024" y="1484715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채팅 시작 — claude.ai에서 New chat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04240" y="2051643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59104" y="2051643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2024" y="2051643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업로드 — 입력창 첨부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아이콘으로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강의자료에 있는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PDF 업로드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4240" y="2618571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59104" y="2618571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2024" y="2618571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요청 —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 입력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9B6BD48A-2656-AABF-979C-36478E630336}"/>
              </a:ext>
            </a:extLst>
          </p:cNvPr>
          <p:cNvSpPr/>
          <p:nvPr/>
        </p:nvSpPr>
        <p:spPr>
          <a:xfrm>
            <a:off x="721360" y="3351276"/>
            <a:ext cx="10545775" cy="3369563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DCB902AD-9AC9-9AD2-13D0-9E61D87B55D9}"/>
              </a:ext>
            </a:extLst>
          </p:cNvPr>
          <p:cNvSpPr/>
          <p:nvPr/>
        </p:nvSpPr>
        <p:spPr>
          <a:xfrm>
            <a:off x="721360" y="3351276"/>
            <a:ext cx="50292" cy="3369563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DA1B0115-3A78-B6C9-82B6-44F6F356A7CB}"/>
              </a:ext>
            </a:extLst>
          </p:cNvPr>
          <p:cNvSpPr/>
          <p:nvPr/>
        </p:nvSpPr>
        <p:spPr>
          <a:xfrm>
            <a:off x="995679" y="3561587"/>
            <a:ext cx="9997135" cy="294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첨부한 보고서를 발표용 슬라이드로 만들 거야. 지금은 디자인 말고 '내용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구조'만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잡아줘.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발표 대상: 정책 및 R&amp;D 실무자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목적: 한국 고령화의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속도·구조·취약성을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데이터로 설명하고, R&amp;D 관점의 대응 필요성을 전달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분량: 슬라이드 10장 내외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요청 사항: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1) 전체 슬라이드 목차(흐름)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먼저 제시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 슬라이드별로 다음을 작성: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- 슬라이드 제목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- 핵심 메시지 1줄 (그 장에서 청중이 기억할 단 하나)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- 본문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불릿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2~4개 (간결하게)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- 필요한 시각자료 제안 (차트/표/다이어그램 종류와 데이터)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3) 한 슬라이드에 글이 너무 많지 않게, 발표용으로 압축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4)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수치·고유명사는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첨부 파일의 원본을 정확히 따를 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(첨부에 본문이 있는 내용만 사용하고, 목차에만 보이는 장은 제외)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756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다듬기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25090" y="598932"/>
            <a:ext cx="87436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 대화로 조정 — 작게, 자주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0292" cy="228600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653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요청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57984"/>
            <a:ext cx="99971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“3번 슬라이드는 두 장으로 나눠줘. 내용이 너무 많아.”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“결론 슬라이드에 'R&amp;D 관점 시사점' 3가지를 넣어줘.”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“5번 슬라이드 불릿을 더 간결하게 줄여줘.”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446227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2416" y="4727448"/>
            <a:ext cx="101068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단계에서 분량·메시지를 먼저 확정 — 이후 디자인이 흔들리지 않는 구조. 슬라이드 번호를 분명히 지목할수록 정확한 수정.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03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결과 예시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899410" y="598932"/>
            <a:ext cx="846932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확정 후 디자인 단계로 이동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'ppt슬라이드 내용 프롬프트.txt’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미리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예시(10장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10545775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368503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3950208"/>
            <a:ext cx="1010686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장수 · 흐름 · 각 장의 핵심 메시지 확정 여부 — 디자인 전에 '내용'을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확정하는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것이 핵심.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8B532-6ED0-1327-900A-84CEE943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885CB0-0E0A-E82C-DDE4-CD76E0799287}"/>
              </a:ext>
            </a:extLst>
          </p:cNvPr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D84895-E6DE-835D-FA6C-FD4B66BB5B60}"/>
              </a:ext>
            </a:extLst>
          </p:cNvPr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226177-A76F-F955-A52B-30FE863005AD}"/>
              </a:ext>
            </a:extLst>
          </p:cNvPr>
          <p:cNvSpPr/>
          <p:nvPr/>
        </p:nvSpPr>
        <p:spPr>
          <a:xfrm>
            <a:off x="640080" y="3063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Design에서 PPT 만들기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B65CFC-2A20-A998-00BD-9480B27EB911}"/>
              </a:ext>
            </a:extLst>
          </p:cNvPr>
          <p:cNvSpPr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30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디자인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49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1241C-6F96-888D-2396-7909FDF3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7CAE8E-4A3F-8E52-6413-A00F34B2E6E7}"/>
              </a:ext>
            </a:extLst>
          </p:cNvPr>
          <p:cNvSpPr/>
          <p:nvPr/>
        </p:nvSpPr>
        <p:spPr>
          <a:xfrm>
            <a:off x="822960" y="457200"/>
            <a:ext cx="237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프로젝트 시작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1B1415-CF05-5B63-B907-BEF096965691}"/>
              </a:ext>
            </a:extLst>
          </p:cNvPr>
          <p:cNvSpPr/>
          <p:nvPr/>
        </p:nvSpPr>
        <p:spPr>
          <a:xfrm>
            <a:off x="3243580" y="598932"/>
            <a:ext cx="81251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706AF9-93F4-D6DF-4504-CD012A48B213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D5D33C-5133-A157-F285-AC1A8A2D2147}"/>
              </a:ext>
            </a:extLst>
          </p:cNvPr>
          <p:cNvSpPr/>
          <p:nvPr/>
        </p:nvSpPr>
        <p:spPr>
          <a:xfrm>
            <a:off x="822960" y="1920240"/>
            <a:ext cx="5120640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84AFD5-A292-71B1-3DD9-3EE43D3756B9}"/>
              </a:ext>
            </a:extLst>
          </p:cNvPr>
          <p:cNvSpPr/>
          <p:nvPr/>
        </p:nvSpPr>
        <p:spPr>
          <a:xfrm>
            <a:off x="1060704" y="1920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C946AA-6D73-E66E-B0C1-A99C5C1D765C}"/>
              </a:ext>
            </a:extLst>
          </p:cNvPr>
          <p:cNvSpPr/>
          <p:nvPr/>
        </p:nvSpPr>
        <p:spPr>
          <a:xfrm>
            <a:off x="1563624" y="19202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claude.ai/design 이동 — 또는 Claude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메뉴에서 Design 선택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8570957-9D90-C581-9D40-CDE2C448E2F5}"/>
              </a:ext>
            </a:extLst>
          </p:cNvPr>
          <p:cNvSpPr/>
          <p:nvPr/>
        </p:nvSpPr>
        <p:spPr>
          <a:xfrm>
            <a:off x="1005840" y="2834640"/>
            <a:ext cx="4754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DC09EA-E086-86BB-3EC7-1672D70BF5FC}"/>
              </a:ext>
            </a:extLst>
          </p:cNvPr>
          <p:cNvSpPr/>
          <p:nvPr/>
        </p:nvSpPr>
        <p:spPr>
          <a:xfrm>
            <a:off x="1060704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71DBD1-D651-BE51-10A6-DAFAF29CE1AF}"/>
              </a:ext>
            </a:extLst>
          </p:cNvPr>
          <p:cNvSpPr/>
          <p:nvPr/>
        </p:nvSpPr>
        <p:spPr>
          <a:xfrm>
            <a:off x="1563624" y="28346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Slides 버튼 클릭 — UI 명칭·위치는 수시로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변경, 기능 기준으로 확인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BE49941-1748-245D-33AA-CB6374411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20" y="1920240"/>
            <a:ext cx="5882019" cy="318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4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디자인 시스템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401568" y="598932"/>
            <a:ext cx="79689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시스템이란 — 덱 전체에 적용되는 스타일 규칙 세트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팔레트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주색·보조색·강조색 — 배경·표·차트 색까지 일괄 결정.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글꼴 종류·크기·굵기 — 제목과 본문의 위계 고정.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2416" y="38587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416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카드·버튼·표·차트 등 반복 사용하는 요소의 형태.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7376" y="38587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패턴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여백·그리드·슬라이드 구조 — 장마다 동일한 배치 규칙.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239512"/>
            <a:ext cx="101068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생성 시 선택한 디자인 시스템이 모든 슬라이드에 자동 적용 — 프롬프트마다 색·글꼴을 지시할 필요 없음. 기본 프리셋 6종 제공, 기관 브랜드로 직접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1241C-6F96-888D-2396-7909FDF3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7CAE8E-4A3F-8E52-6413-A00F34B2E6E7}"/>
              </a:ext>
            </a:extLst>
          </p:cNvPr>
          <p:cNvSpPr/>
          <p:nvPr/>
        </p:nvSpPr>
        <p:spPr>
          <a:xfrm>
            <a:off x="822960" y="4572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디자인 시스템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1B1415-CF05-5B63-B907-BEF096965691}"/>
              </a:ext>
            </a:extLst>
          </p:cNvPr>
          <p:cNvSpPr/>
          <p:nvPr/>
        </p:nvSpPr>
        <p:spPr>
          <a:xfrm>
            <a:off x="3401568" y="598932"/>
            <a:ext cx="796899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706AF9-93F4-D6DF-4504-CD012A48B213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선택 — 입력창 위 Design system 드롭다운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D5D33C-5133-A157-F285-AC1A8A2D2147}"/>
              </a:ext>
            </a:extLst>
          </p:cNvPr>
          <p:cNvSpPr/>
          <p:nvPr/>
        </p:nvSpPr>
        <p:spPr>
          <a:xfrm>
            <a:off x="822960" y="1920240"/>
            <a:ext cx="7680960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84AFD5-A292-71B1-3DD9-3EE43D3756B9}"/>
              </a:ext>
            </a:extLst>
          </p:cNvPr>
          <p:cNvSpPr/>
          <p:nvPr/>
        </p:nvSpPr>
        <p:spPr>
          <a:xfrm>
            <a:off x="1060704" y="1920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C946AA-6D73-E66E-B0C1-A99C5C1D765C}"/>
              </a:ext>
            </a:extLst>
          </p:cNvPr>
          <p:cNvSpPr/>
          <p:nvPr/>
        </p:nvSpPr>
        <p:spPr>
          <a:xfrm>
            <a:off x="1563624" y="19202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위 Design system 버튼 클릭 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목록 표시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8570957-9D90-C581-9D40-CDE2C448E2F5}"/>
              </a:ext>
            </a:extLst>
          </p:cNvPr>
          <p:cNvSpPr/>
          <p:nvPr/>
        </p:nvSpPr>
        <p:spPr>
          <a:xfrm>
            <a:off x="1005840" y="2834640"/>
            <a:ext cx="731520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DC09EA-E086-86BB-3EC7-1672D70BF5FC}"/>
              </a:ext>
            </a:extLst>
          </p:cNvPr>
          <p:cNvSpPr/>
          <p:nvPr/>
        </p:nvSpPr>
        <p:spPr>
          <a:xfrm>
            <a:off x="1060704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71DBD1-D651-BE51-10A6-DAFAF29CE1AF}"/>
              </a:ext>
            </a:extLst>
          </p:cNvPr>
          <p:cNvSpPr/>
          <p:nvPr/>
        </p:nvSpPr>
        <p:spPr>
          <a:xfrm>
            <a:off x="1563624" y="28346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클릭 — Modernist · Classical · Nocturne ·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· Broadsheet · Industry 중 하나 선택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BE49941-1748-245D-33AA-CB6374411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594" y="1783080"/>
            <a:ext cx="2444970" cy="4206240"/>
          </a:xfrm>
          <a:prstGeom prst="rect">
            <a:avLst/>
          </a:prstGeom>
        </p:spPr>
      </p:pic>
      <p:sp>
        <p:nvSpPr>
          <p:cNvPr id="30" name="Shape 6 copy"/>
          <p:cNvSpPr/>
          <p:nvPr/>
        </p:nvSpPr>
        <p:spPr>
          <a:xfrm>
            <a:off x="1005840" y="3749040"/>
            <a:ext cx="731520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31" name="Text 7 copy"/>
          <p:cNvSpPr/>
          <p:nvPr/>
        </p:nvSpPr>
        <p:spPr>
          <a:xfrm>
            <a:off x="1060704" y="37490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8 copy"/>
          <p:cNvSpPr/>
          <p:nvPr/>
        </p:nvSpPr>
        <p:spPr>
          <a:xfrm>
            <a:off x="1563624" y="3749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 — 여러 디자인 시스템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새 디자인 시스템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84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345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프리셋 비교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14116" y="598932"/>
            <a:ext cx="8156448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6종 — 보고서용 PPT는 Industry · Broadsheet 권장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1958"/>
              </p:ext>
            </p:extLst>
          </p:nvPr>
        </p:nvGraphicFramePr>
        <p:xfrm>
          <a:off x="822960" y="1645920"/>
          <a:ext cx="10543032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프리셋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인상 (배경 · 팔레트 · 서체)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보고서용 적합도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Industry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 배경 · 슬레이트 블루 · 컨덴스드 산세리프 · 표·그리드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데이터·표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중심 정책·평가 보고서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Broadsheet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흰 배경 · 블루 · 신문형 세리프 헤드라인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비중 높은 분석 보고서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Classical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크림 배경 · 브라운·골드 · 세리프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격식용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임원 보고·표지, 데이터 장표에는 약함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Modernist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크림 배경 · 레드·코랄 · 굵은 서체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아이디어 발표용 — 공식 보고서에는 과함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베이지 배경 · 올리브·테라코타 · 자연 사진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환경·생활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주제 외 부적합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Nocturne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네이비 다크 배경 · 퍼플 · 다크 모드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r>
                        <a:rPr lang="en-US" sz="120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피칭용 — 인쇄·배포 보고서 비추천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4348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 — 흰 배경 · 절제된 팔레트 · 표·차트 친화적 서체. 실습은 Industry(기본)와 Classical(대비용)로 진행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49651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— 프리셋과 프롬프트 색상 지시 충돌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5230368"/>
            <a:ext cx="1010686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프리셋에는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디자인 관련 내용들이 기본값으로 들어가 있어서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프롬프트에서 추가적으로 디자인 내용을 넣을 경우 충돌할 수 있음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E45A7-89F4-46A3-A2F2-484B15E4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BDDA23-EFDE-2F92-9BE2-1BF1C30FC830}"/>
              </a:ext>
            </a:extLst>
          </p:cNvPr>
          <p:cNvSpPr/>
          <p:nvPr/>
        </p:nvSpPr>
        <p:spPr>
          <a:xfrm>
            <a:off x="822960" y="457200"/>
            <a:ext cx="203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원본 첨부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74FC93-DAB5-23E4-3623-89C996CB8F5B}"/>
              </a:ext>
            </a:extLst>
          </p:cNvPr>
          <p:cNvSpPr/>
          <p:nvPr/>
        </p:nvSpPr>
        <p:spPr>
          <a:xfrm>
            <a:off x="2899410" y="598932"/>
            <a:ext cx="846932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0A013F-74EE-281A-EC98-F2159884BF1A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PDF 첨부 — 정확한 수치의 출발점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2C0DAC-5229-58FC-1D74-26AD3CCF6E37}"/>
              </a:ext>
            </a:extLst>
          </p:cNvPr>
          <p:cNvSpPr/>
          <p:nvPr/>
        </p:nvSpPr>
        <p:spPr>
          <a:xfrm>
            <a:off x="822960" y="1737360"/>
            <a:ext cx="10545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첨부(업로드)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버튼으로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강의자료에 첨부한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업로드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원본의 정확한 수치·문구 참고를 위해 첨부 필수 — 텍스트만 붙여넣으면 세부 수치가 누락·각색될 가능성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로고·브랜드 이미지도 함께 업로드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73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61CC0-18A9-C443-DC73-DF732EE9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C6AD99-876D-1E10-9FF8-0838F8EFA99B}"/>
              </a:ext>
            </a:extLst>
          </p:cNvPr>
          <p:cNvSpPr/>
          <p:nvPr/>
        </p:nvSpPr>
        <p:spPr>
          <a:xfrm>
            <a:off x="822960" y="457200"/>
            <a:ext cx="15843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생성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88687A-47E0-6FC0-67E9-B686F48492D9}"/>
              </a:ext>
            </a:extLst>
          </p:cNvPr>
          <p:cNvSpPr/>
          <p:nvPr/>
        </p:nvSpPr>
        <p:spPr>
          <a:xfrm>
            <a:off x="2453005" y="598932"/>
            <a:ext cx="89157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B2688D-5466-CA89-07F8-ADCC91D997C6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덱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미리 생성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44B80-5EF8-0EB1-365D-EA3B817CAC8A}"/>
              </a:ext>
            </a:extLst>
          </p:cNvPr>
          <p:cNvSpPr txBox="1"/>
          <p:nvPr/>
        </p:nvSpPr>
        <p:spPr>
          <a:xfrm>
            <a:off x="814870" y="144811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‘ppt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설계도 프롬프트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.txt’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복사해서 채팅에 붙여넣기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045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17412-C939-1AF6-6D18-4CFCAF7A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E86BF7-1525-3E9B-1D82-229F4820CA02}"/>
              </a:ext>
            </a:extLst>
          </p:cNvPr>
          <p:cNvSpPr/>
          <p:nvPr/>
        </p:nvSpPr>
        <p:spPr>
          <a:xfrm>
            <a:off x="822960" y="457200"/>
            <a:ext cx="220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프롬프트 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765CF9-EB82-F5EE-73E6-A4C5C876CDCF}"/>
              </a:ext>
            </a:extLst>
          </p:cNvPr>
          <p:cNvSpPr/>
          <p:nvPr/>
        </p:nvSpPr>
        <p:spPr>
          <a:xfrm>
            <a:off x="3071495" y="598932"/>
            <a:ext cx="82972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E0230B-9C9F-58FF-3511-2986062ABBE6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구체적일수록, 분량을 명시할수록 좋은 결과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175AF6-468A-01E4-C53A-DDBEB615EB69}"/>
              </a:ext>
            </a:extLst>
          </p:cNvPr>
          <p:cNvSpPr/>
          <p:nvPr/>
        </p:nvSpPr>
        <p:spPr>
          <a:xfrm>
            <a:off x="822960" y="1783080"/>
            <a:ext cx="5148072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9D980F-5047-34F3-9A2E-3CCA7EB1B4DA}"/>
              </a:ext>
            </a:extLst>
          </p:cNvPr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구체적으로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2FDD9D-6B84-D06D-F46B-DF3E1BF0AFED}"/>
              </a:ext>
            </a:extLst>
          </p:cNvPr>
          <p:cNvSpPr/>
          <p:nvPr/>
        </p:nvSpPr>
        <p:spPr>
          <a:xfrm>
            <a:off x="104241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대상·핵심 메시지·맥락 명시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0002DA-FB74-A94B-DCF3-33EE3DE27647}"/>
              </a:ext>
            </a:extLst>
          </p:cNvPr>
          <p:cNvSpPr/>
          <p:nvPr/>
        </p:nvSpPr>
        <p:spPr>
          <a:xfrm>
            <a:off x="1042416" y="2642616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"Q1 실적 관련 10장 덱 — 매출 / 제품 업데이트 / 팀 하이라이트 포함"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00AB38B-1B84-20AC-3EDE-F1FCF64041AF}"/>
              </a:ext>
            </a:extLst>
          </p:cNvPr>
          <p:cNvSpPr/>
          <p:nvPr/>
        </p:nvSpPr>
        <p:spPr>
          <a:xfrm>
            <a:off x="6217920" y="1783080"/>
            <a:ext cx="5148072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B871331-C87F-6966-D190-A1B4ED31B8C3}"/>
              </a:ext>
            </a:extLst>
          </p:cNvPr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 명시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4AB434-55BA-6C90-7CB1-8EE52AC37D29}"/>
              </a:ext>
            </a:extLst>
          </p:cNvPr>
          <p:cNvSpPr/>
          <p:nvPr/>
        </p:nvSpPr>
        <p:spPr>
          <a:xfrm>
            <a:off x="643737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장수를 숫자로 지정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7064918-4CF4-A5ED-3BAD-8F5660660682}"/>
              </a:ext>
            </a:extLst>
          </p:cNvPr>
          <p:cNvSpPr/>
          <p:nvPr/>
        </p:nvSpPr>
        <p:spPr>
          <a:xfrm>
            <a:off x="6437376" y="2642616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"이사회용 제품 로드맵 15장 임원 개요를 만들어줘"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4097B7-802D-1381-F63C-216FFA3FEAE4}"/>
              </a:ext>
            </a:extLst>
          </p:cNvPr>
          <p:cNvSpPr/>
          <p:nvPr/>
        </p:nvSpPr>
        <p:spPr>
          <a:xfrm>
            <a:off x="822960" y="429768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575EA4-1E76-6F53-64AF-7AE23AE1272C}"/>
              </a:ext>
            </a:extLst>
          </p:cNvPr>
          <p:cNvSpPr/>
          <p:nvPr/>
        </p:nvSpPr>
        <p:spPr>
          <a:xfrm>
            <a:off x="1042416" y="441655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— 첫 덱이 나오면 한 장씩 점검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CE6FBF-71E0-88A8-A945-CDAA132FED0C}"/>
              </a:ext>
            </a:extLst>
          </p:cNvPr>
          <p:cNvSpPr/>
          <p:nvPr/>
        </p:nvSpPr>
        <p:spPr>
          <a:xfrm>
            <a:off x="1042416" y="4681728"/>
            <a:ext cx="101068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구조  ② 슬라이드당 글 양  ③ 핵심 메시지의 명확성  ④ 수치와 원본의 일치 여부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269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880F6-DABE-6700-7113-A9CA1869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5EBAEF-3B80-A785-D0FC-29D7E687C736}"/>
              </a:ext>
            </a:extLst>
          </p:cNvPr>
          <p:cNvSpPr/>
          <p:nvPr/>
        </p:nvSpPr>
        <p:spPr>
          <a:xfrm>
            <a:off x="822960" y="457200"/>
            <a:ext cx="203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화면 구성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C56B47-4C1F-2230-0977-BC2E8AAEC42A}"/>
              </a:ext>
            </a:extLst>
          </p:cNvPr>
          <p:cNvSpPr/>
          <p:nvPr/>
        </p:nvSpPr>
        <p:spPr>
          <a:xfrm>
            <a:off x="2899410" y="598932"/>
            <a:ext cx="846932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EAC82-5353-9749-4297-83DE753D9D22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채팅 · 오른쪽 캔버스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50.png">
            <a:extLst>
              <a:ext uri="{FF2B5EF4-FFF2-40B4-BE49-F238E27FC236}">
                <a16:creationId xmlns:a16="http://schemas.microsoft.com/office/drawing/2014/main" id="{9567F1E4-C370-F601-F985-6532689A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6858000" cy="3356197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5F0CA0B-A702-1ADF-FC68-EA39C8FCCC28}"/>
              </a:ext>
            </a:extLst>
          </p:cNvPr>
          <p:cNvSpPr/>
          <p:nvPr/>
        </p:nvSpPr>
        <p:spPr>
          <a:xfrm>
            <a:off x="822960" y="1691640"/>
            <a:ext cx="6858000" cy="3356197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6A93952-52DE-5D28-F789-60FA3F1B5548}"/>
              </a:ext>
            </a:extLst>
          </p:cNvPr>
          <p:cNvSpPr/>
          <p:nvPr/>
        </p:nvSpPr>
        <p:spPr>
          <a:xfrm>
            <a:off x="8046720" y="1691640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Design 진입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6688561-8EA8-6C81-E19C-1C81F4F9EDF6}"/>
              </a:ext>
            </a:extLst>
          </p:cNvPr>
          <p:cNvSpPr/>
          <p:nvPr/>
        </p:nvSpPr>
        <p:spPr>
          <a:xfrm>
            <a:off x="8046720" y="196596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Design(팔레트) 아이콘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D8786C4-F2C3-463D-4DA7-FE7404E35085}"/>
              </a:ext>
            </a:extLst>
          </p:cNvPr>
          <p:cNvSpPr/>
          <p:nvPr/>
        </p:nvSpPr>
        <p:spPr>
          <a:xfrm>
            <a:off x="8046720" y="2560320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왼쪽 = 채팅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18DCB14-A043-8A12-DF43-CC5B47592289}"/>
              </a:ext>
            </a:extLst>
          </p:cNvPr>
          <p:cNvSpPr/>
          <p:nvPr/>
        </p:nvSpPr>
        <p:spPr>
          <a:xfrm>
            <a:off x="8046720" y="283464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골격·지시를 입력하는 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F80F2D0-E6C7-02C1-B1E8-766D7EB8D17F}"/>
              </a:ext>
            </a:extLst>
          </p:cNvPr>
          <p:cNvSpPr/>
          <p:nvPr/>
        </p:nvSpPr>
        <p:spPr>
          <a:xfrm>
            <a:off x="8046720" y="3429000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오른쪽 = 캔버스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9E4AB61-A194-1B31-A229-CA8ACF45C98A}"/>
              </a:ext>
            </a:extLst>
          </p:cNvPr>
          <p:cNvSpPr/>
          <p:nvPr/>
        </p:nvSpPr>
        <p:spPr>
          <a:xfrm>
            <a:off x="8046720" y="370332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슬라이드가 보이는 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EDDC3D3-4115-060D-D439-92BDCB9E76D4}"/>
              </a:ext>
            </a:extLst>
          </p:cNvPr>
          <p:cNvSpPr/>
          <p:nvPr/>
        </p:nvSpPr>
        <p:spPr>
          <a:xfrm>
            <a:off x="8046720" y="4297680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Export → PPTX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FCCE873-420A-7BF9-AF02-CF18AA8843B8}"/>
              </a:ext>
            </a:extLst>
          </p:cNvPr>
          <p:cNvSpPr/>
          <p:nvPr/>
        </p:nvSpPr>
        <p:spPr>
          <a:xfrm>
            <a:off x="8046720" y="457200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위에서 .pptx로 내보내기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C49B135-33D7-CC62-9663-8776671C48E6}"/>
              </a:ext>
            </a:extLst>
          </p:cNvPr>
          <p:cNvSpPr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D9C36BB-9069-4674-E25A-9CA4D907F89E}"/>
              </a:ext>
            </a:extLst>
          </p:cNvPr>
          <p:cNvSpPr/>
          <p:nvPr/>
        </p:nvSpPr>
        <p:spPr>
          <a:xfrm>
            <a:off x="1042416" y="5376672"/>
            <a:ext cx="101068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중 해당 창을 벗어나면 생성이 중단될 가능성 · UI는 계속 변경 — 실제 화면·아이콘 위치는 다를 수 있음.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03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63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Design으로 편집하고 Export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30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편집 &amp; 내보내기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03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편집 개요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899410" y="598932"/>
            <a:ext cx="846932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편집은 네 가지 방법 중 선택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수정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구조 변경 · 가장 많이 사용.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코멘트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요소만 정밀 수정.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2416" y="38587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텍스트 편집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416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오타·숫자 등 사소한 수정.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7376" y="38587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 · 컨트롤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색·간격·레이아웃 톤 조정.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239512"/>
            <a:ext cx="101068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캔버스에서 요소 드래그로 이동·크기 조절·정렬도 가능 (2026. 6. 업데이트 이후).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4072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① 대화로 수정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75965" y="598932"/>
            <a:ext cx="80927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구조 변경은 대화가 가장 강력한 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457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지목 변경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"○번 슬라이드 제목을 □로 바꾸고, 불릿을 △ 중심으로 다시 써줘."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· 펼치기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"○번과 □번 사이에 한 장 추가" · "이 섹션을 두 장으로 펼쳐 흐름을 천천히"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생성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데이터를 말로 설명하면 적절한 차트 생성. "이 표를 막대그래프로"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HTML 기반이라 등장 효과 요청 가능. "핵심 수치가 순차적으로 나타나게"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 — 슬라이드 번호를 분명히 지목할수록 의도한 부분만 정확히 수정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579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② 인라인 코멘트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448050" y="598932"/>
            <a:ext cx="792068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요소만 정밀 수정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828800"/>
            <a:ext cx="5486400" cy="25291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828800"/>
            <a:ext cx="5486400" cy="2529145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475488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4315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제목·차트·이미지 등 특정 요소만 고칠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475488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36499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675888"/>
            <a:ext cx="43159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Comments 버튼 클릭 → 요소 클릭 → 코멘트 입력 → Send to Claude로 해당 부분만 반영.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5029200"/>
            <a:ext cx="10545775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13248"/>
            <a:ext cx="101068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덱을 다시 생성하지 않아 빠르고, 다른 부분이 그대로 유지.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853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② 영역 지정 코멘트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22370" y="598932"/>
            <a:ext cx="76463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영역을 드래그해 지정 후 수정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029200" cy="39519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691640"/>
            <a:ext cx="5029200" cy="3951939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512064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4681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하나보다 넓은 특정 영역을 지정해 알리고 싶을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512064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36499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675888"/>
            <a:ext cx="4681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Comments 버튼 클릭 → 수정할 영역 드래그 → 코멘트 입력 → Send로 해당 부분만 반영.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5120640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58968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덱을 다시 생성하지 않아 빠른 방식.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853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② 코멘트 누적 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22370" y="598932"/>
            <a:ext cx="76463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코멘트를 모아 한 번에 반영 — 토큰·시간 절약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115" y="1737360"/>
            <a:ext cx="23656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3115" y="1737360"/>
            <a:ext cx="2365620" cy="3931920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768096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72420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코멘트를 모아 한 번에 반영하고 싶을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768096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364992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675888"/>
            <a:ext cx="72420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코멘트 입력 후 Add comment로 좌측 목록에 누적 → 채팅창에 "지금까지 쌓인 코멘트를 한 번에 반영해줘" 입력.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7680960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58968"/>
            <a:ext cx="7242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건별 수정보다 토큰과 시간 절약.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853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③ 직접 텍스트 편집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22370" y="598932"/>
            <a:ext cx="76463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사소한 텍스트는 직접 수정이 가장 빠른 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303520" cy="29679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828800"/>
            <a:ext cx="5303520" cy="2967907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493776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4498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 · 숫자 한 글자 · 짧은 문구 수정.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493776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364992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675888"/>
            <a:ext cx="44988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Edit 버튼 클릭 → 편집할 텍스트 클릭 → 커서 진입 후 바로 타이핑으로 수정.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4937760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5896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아까운 미세 수정에 최적.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955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④ 슬라이더 · 컨트롤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24605" y="598932"/>
            <a:ext cx="754413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톤 조정 — 여백 · 색 · 크기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88" y="1737360"/>
            <a:ext cx="3268647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00088" y="1737360"/>
            <a:ext cx="3268647" cy="3931920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7040880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66019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여백·색·크기 등 디자인 톤을 감각적으로 맞출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383280"/>
            <a:ext cx="704088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54787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858768"/>
            <a:ext cx="66019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 버튼 클릭 → 좌측 메뉴의 조절 컨트롤 수정 → 캔버스에서 즉시 확인.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853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TWEAKS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22245" y="598932"/>
            <a:ext cx="864649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도구 자체를 생성 — Tweaks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12648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5687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56875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"로고 켜기/끄기", "슬라이드 번호 표시"처럼 덱 전반에 일관 적용되는 on/off 도구가 필요할 때.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612648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730752"/>
            <a:ext cx="5687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4041648"/>
            <a:ext cx="56875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Tweaks 버튼으로 원하는 도구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스크린샷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삽입 여부 조정할 수 있는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tweak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패널을 추가해줘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3C74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채팅창에 요청하는 방법이 현재 권장 사항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C74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6126480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5687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58968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생성에 시간이 걸려 이번 실습에서는 시연 생략.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363E3FE-87AF-7C1F-C985-36BB46AF5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397" y="1783080"/>
            <a:ext cx="3982006" cy="27340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299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TWEAKS 예시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168650" y="598932"/>
            <a:ext cx="820008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토글에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KISTI 로고 On / Off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31733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 Off — 로고 없이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48892" y="1660990"/>
            <a:ext cx="32936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 On — 로고 표시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EFF71D-9160-5144-275A-A619F7828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2002302"/>
            <a:ext cx="5066559" cy="30170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56CD673-07E5-491F-3724-74DBD37E1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41" y="1997389"/>
            <a:ext cx="4964630" cy="30135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8535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EXPORT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22245" y="598932"/>
            <a:ext cx="864649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완성본 내보내기 — PPTX · PDF 외 다양한 대상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8" name="Table 0"/>
          <p:cNvGraphicFramePr>
            <a:graphicFrameLocks noGrp="1"/>
          </p:cNvGraphicFramePr>
          <p:nvPr/>
        </p:nvGraphicFramePr>
        <p:xfrm>
          <a:off x="822960" y="1645920"/>
          <a:ext cx="10545775" cy="2560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내보내기 옵션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쓰나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PPTX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파워포인트에서 추가 편집·발표 (가장 일반적)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배포·인쇄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Standalone HTML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애니메이션·인터랙션을 유지한 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.zip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프로젝트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Send to 파트너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Canva · Gamma · Miro 등으로 전달해 편집·협업 지속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Hand off to 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디자인을 코드 구현 단계로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4348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 방법 — 캔버스 상단의 Share → Export → 형식 선택 → PPTX 선택 시 파워포인트 파일 다운로드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49651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— 2026. 8. 기준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5230368"/>
            <a:ext cx="1010686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PPTX로 내보내면 글자 줄바꿈이 원본과 달라지는 경우 존재. 수정을 Claude Design에서 모두 마친 뒤 PDF로 내보내면 원본과 동일하게 출력.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402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21528" y="2743200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63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디자인 시스템 직접 만들기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왜 만드나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70632" y="598932"/>
            <a:ext cx="85999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디자인 시스템 — 한 번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설정하면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프로젝트에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285105"/>
            <a:ext cx="5148072" cy="3108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449697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프리셋 — 범용 스타일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852033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기본 제공 · 선택 즉시 사용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색·서체는 고정, 기관 로고·서체·규격은 미반영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보고서마다 프롬프트로 로고·색을 다시 지시 필요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작성자마다 결과물 톤이 달라져 기관 문서 일관성 확보 어려움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2285105"/>
            <a:ext cx="5148072" cy="3108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2449697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</a:t>
            </a:r>
            <a:r>
              <a:rPr kumimoji="0" lang="en-US" sz="10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852033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로고·기관색·서체·레이아웃 규칙을 한 번 등록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indent="-203200" latinLnBrk="0">
              <a:lnSpc>
                <a:spcPct val="130000"/>
              </a:lnSpc>
              <a:spcAft>
                <a:spcPts val="1000"/>
              </a:spcAft>
              <a:buSzPct val="100000"/>
              <a:buFontTx/>
              <a:buChar char="▪"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share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일관적인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프롬프트에서 디자인 지시 생략 → 내용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AF31D-DB11-4389-A53A-54EE8860F91C}"/>
              </a:ext>
            </a:extLst>
          </p:cNvPr>
          <p:cNvSpPr txBox="1"/>
          <p:nvPr/>
        </p:nvSpPr>
        <p:spPr>
          <a:xfrm>
            <a:off x="822960" y="1585392"/>
            <a:ext cx="6096000" cy="348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하단에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systems -&gt; +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설정 창 입력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63240" y="598932"/>
            <a:ext cx="830732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항목 — 이름 ·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Asset ·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지시사항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shots/m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615" y="1737360"/>
            <a:ext cx="3287949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82615" y="1737360"/>
            <a:ext cx="3287949" cy="4343400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7223760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1947672"/>
            <a:ext cx="6784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name and blurb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16" y="2258568"/>
            <a:ext cx="6784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 이름 + 용도 1~2문장. 예) 'KISTI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구분하는 라벨.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7223760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364992"/>
            <a:ext cx="6784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 fonts, logos and assets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2416" y="3675888"/>
            <a:ext cx="67848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보고서 PPT 템플릿 &gt; 로고(SVG·PNG) &gt; CI 가이드 PDF &gt; 지정 서체(.ttf/.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순으로 디자인 일관성 효과 좋음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완성물이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효과적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2960" y="4983480"/>
            <a:ext cx="7223760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48072"/>
            <a:ext cx="6784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 other notes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2416" y="5458968"/>
            <a:ext cx="6784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 전달되지 않는 규칙을 문장으로 — 색 hex · 서체명 · 흰 배경·장식 최소화 · 로고 위치 · 슬라이드당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 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2202</Words>
  <Application>Microsoft Office PowerPoint</Application>
  <PresentationFormat>와이드스크린</PresentationFormat>
  <Paragraphs>347</Paragraphs>
  <Slides>36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2026-08-27T12:32:57Z</dcterms:created>
  <dcterms:modified xsi:type="dcterms:W3CDTF">2026-09-01T05:36:42Z</dcterms:modified>
</cp:coreProperties>
</file>